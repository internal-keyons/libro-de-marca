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  <Override PartName="/ppt/slides/slide33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62" r:id="rId8"/>
    <p:sldId id="258" r:id="rId4"/>
    <p:sldId id="260" r:id="rId6"/>
    <p:sldId id="261" r:id="rId7"/>
    <p:sldId id="263" r:id="rId9"/>
    <p:sldId id="259" r:id="rId5"/>
    <p:sldId id="271" r:id="rId17"/>
    <p:sldId id="265" r:id="rId11"/>
    <p:sldId id="266" r:id="rId12"/>
    <p:sldId id="268" r:id="rId14"/>
    <p:sldId id="274" r:id="rId20"/>
    <p:sldId id="279" r:id="rId25"/>
    <p:sldId id="281" r:id="rId27"/>
    <p:sldId id="283" r:id="rId29"/>
    <p:sldId id="267" r:id="rId13"/>
    <p:sldId id="285" r:id="rId31"/>
    <p:sldId id="288" r:id="rId43"/>
  </p:sldIdLst>
  <p:notesMasterIdLst>
    <p:notesMasterId r:id="rId34"/>
  </p:notesMasterIdLst>
  <p:sldSz cx="9144000" cy="5143500"/>
  <p:notesSz cx="5143500" cy="9144000"/>
  <p:embeddedFontLst>
    <p:embeddedFont>
      <p:font typeface="Plus Jakarta Sans"/>
      <p:regular r:id="rId39"/>
    </p:embeddedFont>
    <p:embeddedFont>
      <p:font typeface="TASA Orbiter"/>
      <p:regular r:id="rId40"/>
    </p:embeddedFont>
    <p:embeddedFont>
      <p:font typeface="Inter"/>
      <p:regular r:id="rId41"/>
    </p:embeddedFont>
    <p:embeddedFont>
      <p:font typeface="Space Grotesk"/>
      <p:regular r:id="rId4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7" Type="http://schemas.openxmlformats.org/officeDocument/2006/relationships/slide" Target="slides/slide16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9" Type="http://schemas.openxmlformats.org/officeDocument/2006/relationships/slide" Target="slides/slide28.xml"/><Relationship Id="rId31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Relationship Id="rId39" Type="http://schemas.openxmlformats.org/officeDocument/2006/relationships/font" Target="fonts/rId39.fntdata"/><Relationship Id="rId40" Type="http://schemas.openxmlformats.org/officeDocument/2006/relationships/font" Target="fonts/rId40.fntdata"/><Relationship Id="rId41" Type="http://schemas.openxmlformats.org/officeDocument/2006/relationships/font" Target="fonts/rId41.fntdata"/><Relationship Id="rId42" Type="http://schemas.openxmlformats.org/officeDocument/2006/relationships/font" Target="fonts/rId42.fntdata"/>  <Relationship Id="rId43" Type="http://schemas.openxmlformats.org/officeDocument/2006/relationships/slide" Target="slides/slide33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7.png"/><Relationship Id="rId8" Type="http://schemas.openxmlformats.org/officeDocument/2006/relationships/image" Target="../media/image-30-8.png"/><Relationship Id="rId9" Type="http://schemas.openxmlformats.org/officeDocument/2006/relationships/image" Target="../media/image-30-9.png"/><Relationship Id="rId10" Type="http://schemas.openxmlformats.org/officeDocument/2006/relationships/image" Target="../media/image-30-10.png"/><Relationship Id="rId11" Type="http://schemas.openxmlformats.org/officeDocument/2006/relationships/image" Target="../media/image-30-11.png"/><Relationship Id="rId12" Type="http://schemas.openxmlformats.org/officeDocument/2006/relationships/image" Target="../media/image-30-12.png"/><Relationship Id="rId13" Type="http://schemas.openxmlformats.org/officeDocument/2006/relationships/image" Target="../media/image-30-13.png"/><Relationship Id="rId14" Type="http://schemas.openxmlformats.org/officeDocument/2006/relationships/image" Target="../media/image-30-14.png"/><Relationship Id="rId15" Type="http://schemas.openxmlformats.org/officeDocument/2006/relationships/image" Target="../media/image-30-15.png"/><Relationship Id="rId16" Type="http://schemas.openxmlformats.org/officeDocument/2006/relationships/image" Target="../media/image-30-16.png"/><Relationship Id="rId17" Type="http://schemas.openxmlformats.org/officeDocument/2006/relationships/image" Target="../media/image-30-17.png"/><Relationship Id="rId18" Type="http://schemas.openxmlformats.org/officeDocument/2006/relationships/image" Target="../media/image-30-18.png"/><Relationship Id="rId19" Type="http://schemas.openxmlformats.org/officeDocument/2006/relationships/image" Target="../media/image-3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433888"/>
            <a:ext cx="538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USO INTERNO · 2026</a:t>
            </a:r>
            <a:endParaRPr lang="en-US" sz="713" dirty="0"/>
          </a:p>
        </p:txBody>
      </p:sp>
      <p:sp>
        <p:nvSpPr>
          <p:cNvPr id="3" name="Text 1"/>
          <p:cNvSpPr/>
          <p:nvPr/>
        </p:nvSpPr>
        <p:spPr>
          <a:xfrm>
            <a:off x="476250" y="4576763"/>
            <a:ext cx="1333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120063" y="4433888"/>
            <a:ext cx="547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DÍA DE MES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7205663" y="4576763"/>
            <a:ext cx="14620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PRESENTA: NOMBRE APELLIDO</a:t>
            </a:r>
            <a:pPr algn="r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/>
            </a:r>
            <a:endParaRPr lang="en-US" sz="713" dirty="0"/>
          </a:p>
        </p:txBody>
      </p:sp>
      <p:sp>
        <p:nvSpPr>
          <p:cNvPr id="6" name="Text 4"/>
          <p:cNvSpPr/>
          <p:nvPr/>
        </p:nvSpPr>
        <p:spPr>
          <a:xfrm>
            <a:off x="476250" y="476250"/>
            <a:ext cx="4891088" cy="24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Revisión del</a:t>
            </a:r>
            <a:endParaRPr lang="en-US" sz="6769" dirty="0"/>
          </a:p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trimestre</a:t>
            </a:r>
            <a:endParaRPr lang="en-US" sz="6769" dirty="0"/>
          </a:p>
        </p:txBody>
      </p:sp>
      <p:sp>
        <p:nvSpPr>
          <p:cNvPr id="7" name="Shape 5"/>
          <p:cNvSpPr/>
          <p:nvPr/>
        </p:nvSpPr>
        <p:spPr>
          <a:xfrm>
            <a:off x="547688" y="3162300"/>
            <a:ext cx="933450" cy="0"/>
          </a:xfrm>
          <a:prstGeom prst="line">
            <a:avLst/>
          </a:prstGeom>
          <a:noFill/>
          <a:ln w="36195">
            <a:solidFill>
              <a:srgbClr val="E99D9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15300" y="476250"/>
            <a:ext cx="482175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6288" y="1257300"/>
            <a:ext cx="3633788" cy="2843213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776288" y="1257300"/>
            <a:ext cx="3633788" cy="85725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776288" y="125730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5" name="Text 3"/>
          <p:cNvSpPr/>
          <p:nvPr/>
        </p:nvSpPr>
        <p:spPr>
          <a:xfrm>
            <a:off x="776288" y="1257300"/>
            <a:ext cx="414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Resultados</a:t>
            </a:r>
            <a:endParaRPr lang="en-US" sz="1283" dirty="0"/>
          </a:p>
        </p:txBody>
      </p:sp>
      <p:sp>
        <p:nvSpPr>
          <p:cNvPr id="6" name="Text 4"/>
          <p:cNvSpPr/>
          <p:nvPr/>
        </p:nvSpPr>
        <p:spPr>
          <a:xfrm>
            <a:off x="4014788" y="1257300"/>
            <a:ext cx="395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Parte 1</a:t>
            </a:r>
            <a:endParaRPr lang="en-US" sz="128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288" y="1581150"/>
            <a:ext cx="3633788" cy="47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1525" y="1695450"/>
            <a:ext cx="3638550" cy="142875"/>
          </a:xfrm>
          <a:prstGeom prst="rect">
            <a:avLst/>
          </a:prstGeom>
          <a:noFill/>
          <a:ln/>
        </p:spPr>
      </p:sp>
      <p:sp>
        <p:nvSpPr>
          <p:cNvPr id="9" name="Text 6"/>
          <p:cNvSpPr/>
          <p:nvPr/>
        </p:nvSpPr>
        <p:spPr>
          <a:xfrm>
            <a:off x="771525" y="1695450"/>
            <a:ext cx="3481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 que entregamos</a:t>
            </a:r>
            <a:endParaRPr lang="en-US" sz="855" dirty="0"/>
          </a:p>
        </p:txBody>
      </p:sp>
      <p:sp>
        <p:nvSpPr>
          <p:cNvPr id="10" name="Text 7"/>
          <p:cNvSpPr/>
          <p:nvPr/>
        </p:nvSpPr>
        <p:spPr>
          <a:xfrm>
            <a:off x="4252913" y="16954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11" name="Shape 8"/>
          <p:cNvSpPr/>
          <p:nvPr/>
        </p:nvSpPr>
        <p:spPr>
          <a:xfrm>
            <a:off x="776288" y="1952625"/>
            <a:ext cx="3633788" cy="161925"/>
          </a:xfrm>
          <a:prstGeom prst="rect">
            <a:avLst/>
          </a:prstGeom>
          <a:noFill/>
          <a:ln/>
        </p:spPr>
      </p:sp>
      <p:sp>
        <p:nvSpPr>
          <p:cNvPr id="12" name="Text 9"/>
          <p:cNvSpPr/>
          <p:nvPr/>
        </p:nvSpPr>
        <p:spPr>
          <a:xfrm>
            <a:off x="776288" y="1952625"/>
            <a:ext cx="10763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spc="-19" kern="0" dirty="0">
                <a:solidFill>
                  <a:srgbClr val="A2A2A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Cifras del trimestre</a:t>
            </a:r>
            <a:endParaRPr lang="en-US" sz="855" dirty="0"/>
          </a:p>
        </p:txBody>
      </p:sp>
      <p:sp>
        <p:nvSpPr>
          <p:cNvPr id="13" name="Text 10"/>
          <p:cNvSpPr/>
          <p:nvPr/>
        </p:nvSpPr>
        <p:spPr>
          <a:xfrm>
            <a:off x="4252913" y="19621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855" dirty="0"/>
          </a:p>
        </p:txBody>
      </p:sp>
      <p:sp>
        <p:nvSpPr>
          <p:cNvPr id="14" name="Shape 11"/>
          <p:cNvSpPr/>
          <p:nvPr/>
        </p:nvSpPr>
        <p:spPr>
          <a:xfrm>
            <a:off x="776288" y="2266950"/>
            <a:ext cx="3633788" cy="842963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776288" y="226695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776288" y="2266950"/>
            <a:ext cx="1143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Aprendizajes</a:t>
            </a:r>
            <a:endParaRPr lang="en-US" sz="1283" dirty="0"/>
          </a:p>
        </p:txBody>
      </p:sp>
      <p:sp>
        <p:nvSpPr>
          <p:cNvPr id="17" name="Text 14"/>
          <p:cNvSpPr/>
          <p:nvPr/>
        </p:nvSpPr>
        <p:spPr>
          <a:xfrm>
            <a:off x="3981450" y="2266950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Parte 2</a:t>
            </a:r>
            <a:endParaRPr lang="en-US" sz="1283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6288" y="2590800"/>
            <a:ext cx="3633788" cy="4763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76288" y="27098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0" name="Text 16"/>
          <p:cNvSpPr/>
          <p:nvPr/>
        </p:nvSpPr>
        <p:spPr>
          <a:xfrm>
            <a:off x="776288" y="2709863"/>
            <a:ext cx="9477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Qué funcionó</a:t>
            </a:r>
            <a:endParaRPr lang="en-US" sz="855" dirty="0"/>
          </a:p>
        </p:txBody>
      </p:sp>
      <p:sp>
        <p:nvSpPr>
          <p:cNvPr id="21" name="Text 17"/>
          <p:cNvSpPr/>
          <p:nvPr/>
        </p:nvSpPr>
        <p:spPr>
          <a:xfrm>
            <a:off x="4262438" y="2709863"/>
            <a:ext cx="147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855" dirty="0"/>
          </a:p>
        </p:txBody>
      </p:sp>
      <p:sp>
        <p:nvSpPr>
          <p:cNvPr id="22" name="Shape 18"/>
          <p:cNvSpPr/>
          <p:nvPr/>
        </p:nvSpPr>
        <p:spPr>
          <a:xfrm>
            <a:off x="776288" y="29670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3" name="Text 19"/>
          <p:cNvSpPr/>
          <p:nvPr/>
        </p:nvSpPr>
        <p:spPr>
          <a:xfrm>
            <a:off x="776288" y="2967038"/>
            <a:ext cx="714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Qué cambiamos</a:t>
            </a:r>
            <a:endParaRPr lang="en-US" sz="855" dirty="0"/>
          </a:p>
        </p:txBody>
      </p:sp>
      <p:sp>
        <p:nvSpPr>
          <p:cNvPr id="24" name="Text 20"/>
          <p:cNvSpPr/>
          <p:nvPr/>
        </p:nvSpPr>
        <p:spPr>
          <a:xfrm>
            <a:off x="4257675" y="2967038"/>
            <a:ext cx="152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855" dirty="0"/>
          </a:p>
        </p:txBody>
      </p:sp>
      <p:sp>
        <p:nvSpPr>
          <p:cNvPr id="25" name="Shape 21"/>
          <p:cNvSpPr/>
          <p:nvPr/>
        </p:nvSpPr>
        <p:spPr>
          <a:xfrm>
            <a:off x="776288" y="3262313"/>
            <a:ext cx="3633788" cy="838200"/>
          </a:xfrm>
          <a:prstGeom prst="rect">
            <a:avLst/>
          </a:prstGeom>
          <a:noFill/>
          <a:ln/>
        </p:spPr>
      </p:sp>
      <p:sp>
        <p:nvSpPr>
          <p:cNvPr id="26" name="Shape 22"/>
          <p:cNvSpPr/>
          <p:nvPr/>
        </p:nvSpPr>
        <p:spPr>
          <a:xfrm>
            <a:off x="776288" y="3262313"/>
            <a:ext cx="3633788" cy="209550"/>
          </a:xfrm>
          <a:prstGeom prst="rect">
            <a:avLst/>
          </a:prstGeom>
          <a:noFill/>
          <a:ln/>
        </p:spPr>
      </p:sp>
      <p:sp>
        <p:nvSpPr>
          <p:cNvPr id="27" name="Text 23"/>
          <p:cNvSpPr/>
          <p:nvPr/>
        </p:nvSpPr>
        <p:spPr>
          <a:xfrm>
            <a:off x="776288" y="3262313"/>
            <a:ext cx="1238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Plan</a:t>
            </a:r>
            <a:endParaRPr lang="en-US" sz="1283" dirty="0"/>
          </a:p>
        </p:txBody>
      </p:sp>
      <p:sp>
        <p:nvSpPr>
          <p:cNvPr id="28" name="Text 24"/>
          <p:cNvSpPr/>
          <p:nvPr/>
        </p:nvSpPr>
        <p:spPr>
          <a:xfrm>
            <a:off x="3981450" y="3262313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Parte 3</a:t>
            </a:r>
            <a:endParaRPr lang="en-US" sz="1283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6288" y="3586163"/>
            <a:ext cx="3633788" cy="4763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776288" y="37004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31" name="Text 26"/>
          <p:cNvSpPr/>
          <p:nvPr/>
        </p:nvSpPr>
        <p:spPr>
          <a:xfrm>
            <a:off x="776288" y="3700463"/>
            <a:ext cx="933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Prioridades</a:t>
            </a:r>
            <a:endParaRPr lang="en-US" sz="855" dirty="0"/>
          </a:p>
        </p:txBody>
      </p:sp>
      <p:sp>
        <p:nvSpPr>
          <p:cNvPr id="32" name="Text 27"/>
          <p:cNvSpPr/>
          <p:nvPr/>
        </p:nvSpPr>
        <p:spPr>
          <a:xfrm>
            <a:off x="4295775" y="3700463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855" dirty="0"/>
          </a:p>
        </p:txBody>
      </p:sp>
      <p:sp>
        <p:nvSpPr>
          <p:cNvPr id="33" name="Shape 28"/>
          <p:cNvSpPr/>
          <p:nvPr/>
        </p:nvSpPr>
        <p:spPr>
          <a:xfrm>
            <a:off x="776288" y="39576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34" name="Text 29"/>
          <p:cNvSpPr/>
          <p:nvPr/>
        </p:nvSpPr>
        <p:spPr>
          <a:xfrm>
            <a:off x="776288" y="3957638"/>
            <a:ext cx="766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Indicadores</a:t>
            </a:r>
            <a:endParaRPr lang="en-US" sz="855" dirty="0"/>
          </a:p>
        </p:txBody>
      </p:sp>
      <p:sp>
        <p:nvSpPr>
          <p:cNvPr id="35" name="Text 30"/>
          <p:cNvSpPr/>
          <p:nvPr/>
        </p:nvSpPr>
        <p:spPr>
          <a:xfrm>
            <a:off x="4300538" y="3957638"/>
            <a:ext cx="109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855" dirty="0"/>
          </a:p>
        </p:txBody>
      </p:sp>
      <p:sp>
        <p:nvSpPr>
          <p:cNvPr id="36" name="Shape 31"/>
          <p:cNvSpPr/>
          <p:nvPr/>
        </p:nvSpPr>
        <p:spPr>
          <a:xfrm>
            <a:off x="4738688" y="1257300"/>
            <a:ext cx="3633788" cy="2843213"/>
          </a:xfrm>
          <a:prstGeom prst="rect">
            <a:avLst/>
          </a:prstGeom>
          <a:noFill/>
          <a:ln/>
        </p:spPr>
      </p:sp>
      <p:sp>
        <p:nvSpPr>
          <p:cNvPr id="37" name="Shape 32"/>
          <p:cNvSpPr/>
          <p:nvPr/>
        </p:nvSpPr>
        <p:spPr>
          <a:xfrm>
            <a:off x="4738688" y="1257300"/>
            <a:ext cx="3633788" cy="857250"/>
          </a:xfrm>
          <a:prstGeom prst="rect">
            <a:avLst/>
          </a:prstGeom>
          <a:noFill/>
          <a:ln/>
        </p:spPr>
      </p:sp>
      <p:sp>
        <p:nvSpPr>
          <p:cNvPr id="38" name="Shape 33"/>
          <p:cNvSpPr/>
          <p:nvPr/>
        </p:nvSpPr>
        <p:spPr>
          <a:xfrm>
            <a:off x="4738688" y="125730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39" name="Text 34"/>
          <p:cNvSpPr/>
          <p:nvPr/>
        </p:nvSpPr>
        <p:spPr>
          <a:xfrm>
            <a:off x="4738688" y="1257300"/>
            <a:ext cx="414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Cierre</a:t>
            </a:r>
            <a:endParaRPr lang="en-US" sz="1283" dirty="0"/>
          </a:p>
        </p:txBody>
      </p:sp>
      <p:sp>
        <p:nvSpPr>
          <p:cNvPr id="40" name="Text 35"/>
          <p:cNvSpPr/>
          <p:nvPr/>
        </p:nvSpPr>
        <p:spPr>
          <a:xfrm>
            <a:off x="7977188" y="1257300"/>
            <a:ext cx="3952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Final</a:t>
            </a:r>
            <a:endParaRPr lang="en-US" sz="1283" dirty="0"/>
          </a:p>
        </p:txBody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738688" y="1581150"/>
            <a:ext cx="3633788" cy="4763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4733925" y="1695450"/>
            <a:ext cx="3638550" cy="142875"/>
          </a:xfrm>
          <a:prstGeom prst="rect">
            <a:avLst/>
          </a:prstGeom>
          <a:noFill/>
          <a:ln/>
        </p:spPr>
      </p:sp>
      <p:sp>
        <p:nvSpPr>
          <p:cNvPr id="43" name="Text 37"/>
          <p:cNvSpPr/>
          <p:nvPr/>
        </p:nvSpPr>
        <p:spPr>
          <a:xfrm>
            <a:off x="4733925" y="1695450"/>
            <a:ext cx="34813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Acuerdos</a:t>
            </a:r>
            <a:endParaRPr lang="en-US" sz="855" dirty="0"/>
          </a:p>
        </p:txBody>
      </p:sp>
      <p:sp>
        <p:nvSpPr>
          <p:cNvPr id="44" name="Text 38"/>
          <p:cNvSpPr/>
          <p:nvPr/>
        </p:nvSpPr>
        <p:spPr>
          <a:xfrm>
            <a:off x="8215313" y="16954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855" dirty="0"/>
          </a:p>
        </p:txBody>
      </p:sp>
      <p:sp>
        <p:nvSpPr>
          <p:cNvPr id="45" name="Shape 39"/>
          <p:cNvSpPr/>
          <p:nvPr/>
        </p:nvSpPr>
        <p:spPr>
          <a:xfrm>
            <a:off x="4738688" y="1952625"/>
            <a:ext cx="3633788" cy="161925"/>
          </a:xfrm>
          <a:prstGeom prst="rect">
            <a:avLst/>
          </a:prstGeom>
          <a:noFill/>
          <a:ln/>
        </p:spPr>
      </p:sp>
      <p:sp>
        <p:nvSpPr>
          <p:cNvPr id="46" name="Text 40"/>
          <p:cNvSpPr/>
          <p:nvPr/>
        </p:nvSpPr>
        <p:spPr>
          <a:xfrm>
            <a:off x="4738688" y="1952625"/>
            <a:ext cx="10763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855" spc="-19" kern="0" dirty="0">
                <a:solidFill>
                  <a:srgbClr val="A2A2A2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Preguntas</a:t>
            </a:r>
            <a:endParaRPr lang="en-US" sz="855" dirty="0"/>
          </a:p>
        </p:txBody>
      </p:sp>
      <p:sp>
        <p:nvSpPr>
          <p:cNvPr id="47" name="Text 41"/>
          <p:cNvSpPr/>
          <p:nvPr/>
        </p:nvSpPr>
        <p:spPr>
          <a:xfrm>
            <a:off x="8215313" y="1962150"/>
            <a:ext cx="157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855" dirty="0"/>
          </a:p>
        </p:txBody>
      </p:sp>
      <p:sp>
        <p:nvSpPr>
          <p:cNvPr id="48" name="Shape 42"/>
          <p:cNvSpPr/>
          <p:nvPr/>
        </p:nvSpPr>
        <p:spPr>
          <a:xfrm>
            <a:off x="4738688" y="2266950"/>
            <a:ext cx="3633788" cy="842963"/>
          </a:xfrm>
          <a:prstGeom prst="rect">
            <a:avLst/>
          </a:prstGeom>
          <a:noFill/>
          <a:ln/>
        </p:spPr>
      </p:sp>
      <p:sp>
        <p:nvSpPr>
          <p:cNvPr id="49" name="Shape 43"/>
          <p:cNvSpPr/>
          <p:nvPr/>
        </p:nvSpPr>
        <p:spPr>
          <a:xfrm>
            <a:off x="4738688" y="2266950"/>
            <a:ext cx="3633788" cy="209550"/>
          </a:xfrm>
          <a:prstGeom prst="rect">
            <a:avLst/>
          </a:prstGeom>
          <a:noFill/>
          <a:ln/>
        </p:spPr>
      </p:sp>
      <p:sp>
        <p:nvSpPr>
          <p:cNvPr id="50" name="Text 44"/>
          <p:cNvSpPr/>
          <p:nvPr/>
        </p:nvSpPr>
        <p:spPr>
          <a:xfrm>
            <a:off x="4738688" y="2266950"/>
            <a:ext cx="11430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Recursos</a:t>
            </a:r>
            <a:endParaRPr lang="en-US" sz="1283" dirty="0"/>
          </a:p>
        </p:txBody>
      </p:sp>
      <p:sp>
        <p:nvSpPr>
          <p:cNvPr id="51" name="Text 45"/>
          <p:cNvSpPr/>
          <p:nvPr/>
        </p:nvSpPr>
        <p:spPr>
          <a:xfrm>
            <a:off x="7943850" y="2266950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Anexos</a:t>
            </a:r>
            <a:endParaRPr lang="en-US" sz="1283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38688" y="2590800"/>
            <a:ext cx="3633788" cy="4763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4738688" y="27098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54" name="Text 47"/>
          <p:cNvSpPr/>
          <p:nvPr/>
        </p:nvSpPr>
        <p:spPr>
          <a:xfrm>
            <a:off x="4738688" y="2709863"/>
            <a:ext cx="947737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Detalle por proyecto</a:t>
            </a:r>
            <a:endParaRPr lang="en-US" sz="855" dirty="0"/>
          </a:p>
        </p:txBody>
      </p:sp>
      <p:sp>
        <p:nvSpPr>
          <p:cNvPr id="55" name="Text 48"/>
          <p:cNvSpPr/>
          <p:nvPr/>
        </p:nvSpPr>
        <p:spPr>
          <a:xfrm>
            <a:off x="8224837" y="2709863"/>
            <a:ext cx="1476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A1</a:t>
            </a:r>
            <a:endParaRPr lang="en-US" sz="855" dirty="0"/>
          </a:p>
        </p:txBody>
      </p:sp>
      <p:sp>
        <p:nvSpPr>
          <p:cNvPr id="56" name="Shape 49"/>
          <p:cNvSpPr/>
          <p:nvPr/>
        </p:nvSpPr>
        <p:spPr>
          <a:xfrm>
            <a:off x="4738688" y="29670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57" name="Text 50"/>
          <p:cNvSpPr/>
          <p:nvPr/>
        </p:nvSpPr>
        <p:spPr>
          <a:xfrm>
            <a:off x="4738688" y="2967038"/>
            <a:ext cx="7143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Calendario</a:t>
            </a:r>
            <a:endParaRPr lang="en-US" sz="855" dirty="0"/>
          </a:p>
        </p:txBody>
      </p:sp>
      <p:sp>
        <p:nvSpPr>
          <p:cNvPr id="58" name="Text 51"/>
          <p:cNvSpPr/>
          <p:nvPr/>
        </p:nvSpPr>
        <p:spPr>
          <a:xfrm>
            <a:off x="8220075" y="2967038"/>
            <a:ext cx="1524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A2</a:t>
            </a:r>
            <a:endParaRPr lang="en-US" sz="855" dirty="0"/>
          </a:p>
        </p:txBody>
      </p:sp>
      <p:sp>
        <p:nvSpPr>
          <p:cNvPr id="59" name="Shape 52"/>
          <p:cNvSpPr/>
          <p:nvPr/>
        </p:nvSpPr>
        <p:spPr>
          <a:xfrm>
            <a:off x="4738688" y="3262313"/>
            <a:ext cx="3633788" cy="838200"/>
          </a:xfrm>
          <a:prstGeom prst="rect">
            <a:avLst/>
          </a:prstGeom>
          <a:noFill/>
          <a:ln/>
        </p:spPr>
      </p:sp>
      <p:sp>
        <p:nvSpPr>
          <p:cNvPr id="60" name="Shape 53"/>
          <p:cNvSpPr/>
          <p:nvPr/>
        </p:nvSpPr>
        <p:spPr>
          <a:xfrm>
            <a:off x="4738688" y="3262313"/>
            <a:ext cx="3633788" cy="209550"/>
          </a:xfrm>
          <a:prstGeom prst="rect">
            <a:avLst/>
          </a:prstGeom>
          <a:noFill/>
          <a:ln/>
        </p:spPr>
      </p:sp>
      <p:sp>
        <p:nvSpPr>
          <p:cNvPr id="61" name="Text 54"/>
          <p:cNvSpPr/>
          <p:nvPr/>
        </p:nvSpPr>
        <p:spPr>
          <a:xfrm>
            <a:off x="4738688" y="3262313"/>
            <a:ext cx="12382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Seguimiento</a:t>
            </a:r>
            <a:endParaRPr lang="en-US" sz="1283" dirty="0"/>
          </a:p>
        </p:txBody>
      </p:sp>
      <p:sp>
        <p:nvSpPr>
          <p:cNvPr id="62" name="Text 55"/>
          <p:cNvSpPr/>
          <p:nvPr/>
        </p:nvSpPr>
        <p:spPr>
          <a:xfrm>
            <a:off x="7943850" y="3262313"/>
            <a:ext cx="4286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Después</a:t>
            </a:r>
            <a:endParaRPr lang="en-US" sz="1283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738688" y="3586163"/>
            <a:ext cx="3633788" cy="4763"/>
          </a:xfrm>
          <a:prstGeom prst="rect">
            <a:avLst/>
          </a:prstGeom>
        </p:spPr>
      </p:pic>
      <p:sp>
        <p:nvSpPr>
          <p:cNvPr id="64" name="Shape 56"/>
          <p:cNvSpPr/>
          <p:nvPr/>
        </p:nvSpPr>
        <p:spPr>
          <a:xfrm>
            <a:off x="4738688" y="370046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65" name="Text 57"/>
          <p:cNvSpPr/>
          <p:nvPr/>
        </p:nvSpPr>
        <p:spPr>
          <a:xfrm>
            <a:off x="4738688" y="3700463"/>
            <a:ext cx="933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Responsables</a:t>
            </a:r>
            <a:endParaRPr lang="en-US" sz="855" dirty="0"/>
          </a:p>
        </p:txBody>
      </p:sp>
      <p:sp>
        <p:nvSpPr>
          <p:cNvPr id="66" name="Text 58"/>
          <p:cNvSpPr/>
          <p:nvPr/>
        </p:nvSpPr>
        <p:spPr>
          <a:xfrm>
            <a:off x="8258175" y="3700463"/>
            <a:ext cx="1143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S1</a:t>
            </a:r>
            <a:endParaRPr lang="en-US" sz="855" dirty="0"/>
          </a:p>
        </p:txBody>
      </p:sp>
      <p:sp>
        <p:nvSpPr>
          <p:cNvPr id="67" name="Shape 59"/>
          <p:cNvSpPr/>
          <p:nvPr/>
        </p:nvSpPr>
        <p:spPr>
          <a:xfrm>
            <a:off x="4738688" y="3957638"/>
            <a:ext cx="3633788" cy="142875"/>
          </a:xfrm>
          <a:prstGeom prst="rect">
            <a:avLst/>
          </a:prstGeom>
          <a:noFill/>
          <a:ln/>
        </p:spPr>
      </p:sp>
      <p:sp>
        <p:nvSpPr>
          <p:cNvPr id="68" name="Text 60"/>
          <p:cNvSpPr/>
          <p:nvPr/>
        </p:nvSpPr>
        <p:spPr>
          <a:xfrm>
            <a:off x="4738688" y="3957638"/>
            <a:ext cx="7667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Próxima revisión</a:t>
            </a:r>
            <a:endParaRPr lang="en-US" sz="855" dirty="0"/>
          </a:p>
        </p:txBody>
      </p:sp>
      <p:sp>
        <p:nvSpPr>
          <p:cNvPr id="69" name="Text 61"/>
          <p:cNvSpPr/>
          <p:nvPr/>
        </p:nvSpPr>
        <p:spPr>
          <a:xfrm>
            <a:off x="8262938" y="3957638"/>
            <a:ext cx="10953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S2</a:t>
            </a:r>
            <a:endParaRPr lang="en-US" sz="855" dirty="0"/>
          </a:p>
        </p:txBody>
      </p:sp>
      <p:sp>
        <p:nvSpPr>
          <p:cNvPr id="70" name="Text 62"/>
          <p:cNvSpPr/>
          <p:nvPr/>
        </p:nvSpPr>
        <p:spPr>
          <a:xfrm>
            <a:off x="476250" y="476250"/>
            <a:ext cx="1519238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Agenda</a:t>
            </a:r>
            <a:endParaRPr lang="en-US" sz="3420" dirty="0"/>
          </a:p>
        </p:txBody>
      </p:sp>
      <p:sp>
        <p:nvSpPr>
          <p:cNvPr id="71" name="Text 6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Shape 6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73" name="Text 6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641" dirty="0"/>
          </a:p>
        </p:txBody>
      </p:sp>
      <p:sp>
        <p:nvSpPr>
          <p:cNvPr id="74" name="Text 6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75" name="Text 6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6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2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Resultados</a:t>
            </a:r>
            <a:endParaRPr lang="en-US" sz="4988" dirty="0"/>
          </a:p>
        </p:txBody>
      </p:sp>
      <p:sp>
        <p:nvSpPr>
          <p:cNvPr id="5" name="Text 1"/>
          <p:cNvSpPr/>
          <p:nvPr/>
        </p:nvSpPr>
        <p:spPr>
          <a:xfrm>
            <a:off x="747713" y="2900363"/>
            <a:ext cx="4238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1</a:t>
            </a:r>
            <a:endParaRPr lang="en-US" sz="1283" dirty="0"/>
          </a:p>
        </p:txBody>
      </p:sp>
      <p:sp>
        <p:nvSpPr>
          <p:cNvPr id="9" name="Text 2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1" name="Text 4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641" dirty="0"/>
          </a:p>
        </p:txBody>
      </p:sp>
      <p:sp>
        <p:nvSpPr>
          <p:cNvPr id="12" name="Text 5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4350" y="2224088"/>
            <a:ext cx="7429500" cy="1952625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514350" y="2224088"/>
            <a:ext cx="7429500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“El cliente valoró entender cada agente.”</a:t>
            </a:r>
            <a:endParaRPr lang="en-US" sz="4988" dirty="0"/>
          </a:p>
        </p:txBody>
      </p:sp>
      <p:sp>
        <p:nvSpPr>
          <p:cNvPr id="4" name="Text 2"/>
          <p:cNvSpPr/>
          <p:nvPr/>
        </p:nvSpPr>
        <p:spPr>
          <a:xfrm>
            <a:off x="514350" y="3848100"/>
            <a:ext cx="74295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— Comentario de cierre, proyecto 04</a:t>
            </a:r>
            <a:endParaRPr lang="en-US" sz="1995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733550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6" name="Text 4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53075" y="1366838"/>
            <a:ext cx="13430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— La idea central</a:t>
            </a:r>
            <a:endParaRPr lang="en-US" sz="1283" dirty="0"/>
          </a:p>
        </p:txBody>
      </p:sp>
      <p:sp>
        <p:nvSpPr>
          <p:cNvPr id="3" name="Text 1"/>
          <p:cNvSpPr/>
          <p:nvPr/>
        </p:nvSpPr>
        <p:spPr>
          <a:xfrm>
            <a:off x="514350" y="538163"/>
            <a:ext cx="6267709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000000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Este trimestre crecimos en proyectos, no en horas: el método empieza a escalar.</a:t>
            </a:r>
            <a:endParaRPr lang="en-US" sz="1995" dirty="0"/>
          </a:p>
        </p:txBody>
      </p:sp>
      <p:sp>
        <p:nvSpPr>
          <p:cNvPr id="4" name="Shape 2"/>
          <p:cNvSpPr/>
          <p:nvPr/>
        </p:nvSpPr>
        <p:spPr>
          <a:xfrm>
            <a:off x="0" y="2085975"/>
            <a:ext cx="9144000" cy="3057525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5" name="Text 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7" name="Text 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641" dirty="0"/>
          </a:p>
        </p:txBody>
      </p:sp>
      <p:sp>
        <p:nvSpPr>
          <p:cNvPr id="8" name="Text 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4843463"/>
            <a:ext cx="83344" cy="833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671513" y="2152650"/>
            <a:ext cx="7577138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421889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4" name="Shape 2"/>
          <p:cNvSpPr/>
          <p:nvPr/>
        </p:nvSpPr>
        <p:spPr>
          <a:xfrm>
            <a:off x="6234113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5" name="Shape 3"/>
          <p:cNvSpPr/>
          <p:nvPr/>
        </p:nvSpPr>
        <p:spPr>
          <a:xfrm>
            <a:off x="10044113" y="2047875"/>
            <a:ext cx="209550" cy="209550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6" name="Shape 4"/>
          <p:cNvSpPr/>
          <p:nvPr/>
        </p:nvSpPr>
        <p:spPr>
          <a:xfrm>
            <a:off x="523875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7" name="Shape 5"/>
          <p:cNvSpPr/>
          <p:nvPr/>
        </p:nvSpPr>
        <p:spPr>
          <a:xfrm>
            <a:off x="4333875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8" name="Shape 6"/>
          <p:cNvSpPr/>
          <p:nvPr/>
        </p:nvSpPr>
        <p:spPr>
          <a:xfrm>
            <a:off x="8146098" y="2057400"/>
            <a:ext cx="195580" cy="195580"/>
          </a:xfrm>
          <a:prstGeom prst="rect">
            <a:avLst/>
          </a:prstGeom>
          <a:solidFill>
            <a:srgbClr val="E99D9E"/>
          </a:solidFill>
          <a:ln/>
        </p:spPr>
      </p:sp>
      <p:sp>
        <p:nvSpPr>
          <p:cNvPr id="9" name="Shape 7"/>
          <p:cNvSpPr/>
          <p:nvPr/>
        </p:nvSpPr>
        <p:spPr>
          <a:xfrm>
            <a:off x="572774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4382774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8194993" y="2105025"/>
            <a:ext cx="97790" cy="97790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486025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6025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08248" y="2109788"/>
            <a:ext cx="85725" cy="85725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51193" y="7132638"/>
            <a:ext cx="97790" cy="97790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Cómo trabajamos un proyecto</a:t>
            </a:r>
            <a:endParaRPr lang="en-US" sz="3420" dirty="0"/>
          </a:p>
        </p:txBody>
      </p:sp>
      <p:sp>
        <p:nvSpPr>
          <p:cNvPr id="17" name="Text 15"/>
          <p:cNvSpPr/>
          <p:nvPr/>
        </p:nvSpPr>
        <p:spPr>
          <a:xfrm>
            <a:off x="495300" y="1085850"/>
            <a:ext cx="4533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mismo método con cada cliente.</a:t>
            </a:r>
            <a:endParaRPr lang="en-US" sz="1283" dirty="0"/>
          </a:p>
        </p:txBody>
      </p:sp>
      <p:sp>
        <p:nvSpPr>
          <p:cNvPr id="18" name="Shape 16"/>
          <p:cNvSpPr/>
          <p:nvPr/>
        </p:nvSpPr>
        <p:spPr>
          <a:xfrm>
            <a:off x="523875" y="2819400"/>
            <a:ext cx="1500188" cy="390525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23875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Diagnóstico</a:t>
            </a:r>
            <a:endParaRPr lang="en-US" sz="1283" dirty="0"/>
          </a:p>
        </p:txBody>
      </p:sp>
      <p:sp>
        <p:nvSpPr>
          <p:cNvPr id="20" name="Text 18"/>
          <p:cNvSpPr/>
          <p:nvPr/>
        </p:nvSpPr>
        <p:spPr>
          <a:xfrm>
            <a:off x="523875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Mapear las tareas repetitivas</a:t>
            </a:r>
            <a:endParaRPr lang="en-US" sz="641" dirty="0"/>
          </a:p>
        </p:txBody>
      </p:sp>
      <p:sp>
        <p:nvSpPr>
          <p:cNvPr id="21" name="Text 19"/>
          <p:cNvSpPr/>
          <p:nvPr/>
        </p:nvSpPr>
        <p:spPr>
          <a:xfrm>
            <a:off x="2424113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Piloto</a:t>
            </a:r>
            <a:endParaRPr lang="en-US" sz="1283" dirty="0"/>
          </a:p>
        </p:txBody>
      </p:sp>
      <p:sp>
        <p:nvSpPr>
          <p:cNvPr id="22" name="Text 20"/>
          <p:cNvSpPr/>
          <p:nvPr/>
        </p:nvSpPr>
        <p:spPr>
          <a:xfrm>
            <a:off x="4333875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Integración</a:t>
            </a:r>
            <a:endParaRPr lang="en-US" sz="1283" dirty="0"/>
          </a:p>
        </p:txBody>
      </p:sp>
      <p:sp>
        <p:nvSpPr>
          <p:cNvPr id="23" name="Text 21"/>
          <p:cNvSpPr/>
          <p:nvPr/>
        </p:nvSpPr>
        <p:spPr>
          <a:xfrm>
            <a:off x="6234113" y="2819400"/>
            <a:ext cx="15001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Medición</a:t>
            </a:r>
            <a:endParaRPr lang="en-US" sz="1283" dirty="0"/>
          </a:p>
        </p:txBody>
      </p:sp>
      <p:sp>
        <p:nvSpPr>
          <p:cNvPr id="24" name="Text 22"/>
          <p:cNvSpPr/>
          <p:nvPr/>
        </p:nvSpPr>
        <p:spPr>
          <a:xfrm>
            <a:off x="2424113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Probar con un caso acotado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4333875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Llevarlo al trabajo diario</a:t>
            </a:r>
            <a:endParaRPr lang="en-US" sz="641" dirty="0"/>
          </a:p>
        </p:txBody>
      </p:sp>
      <p:sp>
        <p:nvSpPr>
          <p:cNvPr id="26" name="Text 24"/>
          <p:cNvSpPr/>
          <p:nvPr/>
        </p:nvSpPr>
        <p:spPr>
          <a:xfrm>
            <a:off x="6234113" y="3090863"/>
            <a:ext cx="15001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Medir horas y calidad</a:t>
            </a:r>
            <a:endParaRPr lang="en-US" sz="641" dirty="0"/>
          </a:p>
        </p:txBody>
      </p:sp>
      <p:sp>
        <p:nvSpPr>
          <p:cNvPr id="27" name="Shape 25"/>
          <p:cNvSpPr/>
          <p:nvPr/>
        </p:nvSpPr>
        <p:spPr>
          <a:xfrm>
            <a:off x="0" y="4110038"/>
            <a:ext cx="9144000" cy="0"/>
          </a:xfrm>
          <a:prstGeom prst="line">
            <a:avLst/>
          </a:prstGeom>
          <a:noFill/>
          <a:ln w="6787">
            <a:solidFill>
              <a:srgbClr val="729B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4381500"/>
            <a:ext cx="9144000" cy="0"/>
          </a:xfrm>
          <a:prstGeom prst="line">
            <a:avLst/>
          </a:prstGeom>
          <a:noFill/>
          <a:ln w="6787">
            <a:solidFill>
              <a:srgbClr val="729BDD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53438" y="2090738"/>
            <a:ext cx="178733" cy="14002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32" name="Text 29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641" dirty="0"/>
          </a:p>
        </p:txBody>
      </p:sp>
      <p:sp>
        <p:nvSpPr>
          <p:cNvPr id="33" name="Text 30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34" name="Text 31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28975" y="1209675"/>
            <a:ext cx="2409825" cy="481012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3228975" y="1209675"/>
            <a:ext cx="2409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2</a:t>
            </a:r>
            <a:endParaRPr lang="en-US" sz="1283" dirty="0"/>
          </a:p>
        </p:txBody>
      </p:sp>
      <p:sp>
        <p:nvSpPr>
          <p:cNvPr id="4" name="Text 2"/>
          <p:cNvSpPr/>
          <p:nvPr/>
        </p:nvSpPr>
        <p:spPr>
          <a:xfrm>
            <a:off x="3228975" y="1481138"/>
            <a:ext cx="2409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Decidir qué dejamos de hacer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6000750" y="1209675"/>
            <a:ext cx="2224088" cy="481012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000750" y="1209675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3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6000750" y="1481138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Acordar tres prioridades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457200" y="1209675"/>
            <a:ext cx="2543175" cy="481012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457200" y="1209675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Objetivo 1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457200" y="1481138"/>
            <a:ext cx="25431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Revisar lo que entregamos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52438" y="1838325"/>
            <a:ext cx="2690813" cy="2543175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28975" y="1838325"/>
            <a:ext cx="2690813" cy="2543175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005513" y="1838325"/>
            <a:ext cx="2690813" cy="2543175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Para qué nos reunimos</a:t>
            </a:r>
            <a:endParaRPr lang="en-US" sz="3420" dirty="0"/>
          </a:p>
        </p:txBody>
      </p:sp>
      <p:sp>
        <p:nvSpPr>
          <p:cNvPr id="15" name="Text 1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7" name="Text 1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641" dirty="0"/>
          </a:p>
        </p:txBody>
      </p:sp>
      <p:sp>
        <p:nvSpPr>
          <p:cNvPr id="18" name="Text 1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19" name="Text 1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14488" y="1952625"/>
            <a:ext cx="5919788" cy="14668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62150" y="2228850"/>
            <a:ext cx="222408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resumen</a:t>
            </a:r>
            <a:endParaRPr lang="en-US" sz="1283" dirty="0"/>
          </a:p>
        </p:txBody>
      </p:sp>
      <p:sp>
        <p:nvSpPr>
          <p:cNvPr id="4" name="Shape 2"/>
          <p:cNvSpPr/>
          <p:nvPr/>
        </p:nvSpPr>
        <p:spPr>
          <a:xfrm>
            <a:off x="1962150" y="2633663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5" name="Shape 3"/>
          <p:cNvSpPr/>
          <p:nvPr/>
        </p:nvSpPr>
        <p:spPr>
          <a:xfrm>
            <a:off x="2007338" y="2677283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6" name="Shape 4"/>
          <p:cNvSpPr/>
          <p:nvPr/>
        </p:nvSpPr>
        <p:spPr>
          <a:xfrm>
            <a:off x="1962150" y="2952750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7" name="Shape 5"/>
          <p:cNvSpPr/>
          <p:nvPr/>
        </p:nvSpPr>
        <p:spPr>
          <a:xfrm>
            <a:off x="2007338" y="2996370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8" name="Text 6"/>
          <p:cNvSpPr/>
          <p:nvPr/>
        </p:nvSpPr>
        <p:spPr>
          <a:xfrm>
            <a:off x="2206307" y="2643188"/>
            <a:ext cx="4767263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Seis proyectos cerrados y dos pilotos en curso con clientes nuevos.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2206307" y="2962275"/>
            <a:ext cx="4767263" cy="119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tiempo de entrega bajó de seis a cuatro semanas.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1590675" y="1252538"/>
            <a:ext cx="26765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 que entregamos</a:t>
            </a:r>
            <a:endParaRPr lang="en-US" sz="1995" dirty="0"/>
          </a:p>
        </p:txBody>
      </p:sp>
      <p:sp>
        <p:nvSpPr>
          <p:cNvPr id="11" name="Text 9"/>
          <p:cNvSpPr/>
          <p:nvPr/>
        </p:nvSpPr>
        <p:spPr>
          <a:xfrm>
            <a:off x="1609725" y="1023938"/>
            <a:ext cx="35718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PARTE 1</a:t>
            </a:r>
            <a:endParaRPr lang="en-US" sz="570" dirty="0"/>
          </a:p>
        </p:txBody>
      </p:sp>
      <p:sp>
        <p:nvSpPr>
          <p:cNvPr id="12" name="Text 10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14488" y="1952625"/>
            <a:ext cx="1919288" cy="222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619500" y="1952625"/>
            <a:ext cx="1909762" cy="222408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605463" y="1952625"/>
            <a:ext cx="1919288" cy="222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590675" y="1252538"/>
            <a:ext cx="2676525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Qué funcionó</a:t>
            </a:r>
            <a:endParaRPr lang="en-US" sz="1995" dirty="0"/>
          </a:p>
        </p:txBody>
      </p:sp>
      <p:sp>
        <p:nvSpPr>
          <p:cNvPr id="6" name="Text 4"/>
          <p:cNvSpPr/>
          <p:nvPr/>
        </p:nvSpPr>
        <p:spPr>
          <a:xfrm>
            <a:off x="1609725" y="1023938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PARTE 2</a:t>
            </a:r>
            <a:endParaRPr lang="en-US" sz="570" dirty="0"/>
          </a:p>
        </p:txBody>
      </p:sp>
      <p:sp>
        <p:nvSpPr>
          <p:cNvPr id="7" name="Text 5"/>
          <p:cNvSpPr/>
          <p:nvPr/>
        </p:nvSpPr>
        <p:spPr>
          <a:xfrm>
            <a:off x="1795463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Diagnóstico corto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3800475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Pilotos acotados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5810250" y="2138363"/>
            <a:ext cx="15573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Seguimiento</a:t>
            </a:r>
            <a:endParaRPr lang="en-US" sz="1283" dirty="0"/>
          </a:p>
        </p:txBody>
      </p:sp>
      <p:sp>
        <p:nvSpPr>
          <p:cNvPr id="10" name="Shape 8"/>
          <p:cNvSpPr/>
          <p:nvPr/>
        </p:nvSpPr>
        <p:spPr>
          <a:xfrm>
            <a:off x="1733550" y="254317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1" name="Shape 9"/>
          <p:cNvSpPr/>
          <p:nvPr/>
        </p:nvSpPr>
        <p:spPr>
          <a:xfrm>
            <a:off x="1778738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5734050" y="254317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3" name="Shape 11"/>
          <p:cNvSpPr/>
          <p:nvPr/>
        </p:nvSpPr>
        <p:spPr>
          <a:xfrm>
            <a:off x="5779238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Shape 12"/>
          <p:cNvSpPr/>
          <p:nvPr/>
        </p:nvSpPr>
        <p:spPr>
          <a:xfrm>
            <a:off x="3738563" y="2543175"/>
            <a:ext cx="147638" cy="147638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15" name="Shape 13"/>
          <p:cNvSpPr/>
          <p:nvPr/>
        </p:nvSpPr>
        <p:spPr>
          <a:xfrm>
            <a:off x="3783750" y="258679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1733550" y="320992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7" name="Shape 15"/>
          <p:cNvSpPr/>
          <p:nvPr/>
        </p:nvSpPr>
        <p:spPr>
          <a:xfrm>
            <a:off x="1778738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8" name="Shape 16"/>
          <p:cNvSpPr/>
          <p:nvPr/>
        </p:nvSpPr>
        <p:spPr>
          <a:xfrm>
            <a:off x="5734050" y="3209925"/>
            <a:ext cx="147638" cy="147638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9" name="Shape 17"/>
          <p:cNvSpPr/>
          <p:nvPr/>
        </p:nvSpPr>
        <p:spPr>
          <a:xfrm>
            <a:off x="5779238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0" name="Shape 18"/>
          <p:cNvSpPr/>
          <p:nvPr/>
        </p:nvSpPr>
        <p:spPr>
          <a:xfrm>
            <a:off x="3738563" y="3209925"/>
            <a:ext cx="147638" cy="147638"/>
          </a:xfrm>
          <a:prstGeom prst="roundRect">
            <a:avLst/>
          </a:prstGeom>
          <a:solidFill>
            <a:srgbClr val="CE635D"/>
          </a:solidFill>
          <a:ln/>
        </p:spPr>
      </p:sp>
      <p:sp>
        <p:nvSpPr>
          <p:cNvPr id="21" name="Shape 19"/>
          <p:cNvSpPr/>
          <p:nvPr/>
        </p:nvSpPr>
        <p:spPr>
          <a:xfrm>
            <a:off x="3783750" y="3253545"/>
            <a:ext cx="60397" cy="60397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2" name="Text 20"/>
          <p:cNvSpPr/>
          <p:nvPr/>
        </p:nvSpPr>
        <p:spPr>
          <a:xfrm>
            <a:off x="1977703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Dos semanas bastan para mapear la operación.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5978203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 entrevistas y datos reales del cliente.</a:t>
            </a:r>
            <a:endParaRPr lang="en-US" sz="641" dirty="0"/>
          </a:p>
        </p:txBody>
      </p:sp>
      <p:sp>
        <p:nvSpPr>
          <p:cNvPr id="24" name="Text 22"/>
          <p:cNvSpPr/>
          <p:nvPr/>
        </p:nvSpPr>
        <p:spPr>
          <a:xfrm>
            <a:off x="3982715" y="254317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 caso, un equipo y una métrica.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1977703" y="320992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Resultados visibles en 30 días.</a:t>
            </a:r>
            <a:endParaRPr lang="en-US" sz="641" dirty="0"/>
          </a:p>
        </p:txBody>
      </p:sp>
      <p:sp>
        <p:nvSpPr>
          <p:cNvPr id="26" name="Text 24"/>
          <p:cNvSpPr/>
          <p:nvPr/>
        </p:nvSpPr>
        <p:spPr>
          <a:xfrm>
            <a:off x="5976938" y="3209925"/>
            <a:ext cx="1376363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Una sesión al mes con cada cliente.</a:t>
            </a:r>
            <a:endParaRPr lang="en-US" sz="641" dirty="0"/>
          </a:p>
        </p:txBody>
      </p:sp>
      <p:sp>
        <p:nvSpPr>
          <p:cNvPr id="27" name="Text 25"/>
          <p:cNvSpPr/>
          <p:nvPr/>
        </p:nvSpPr>
        <p:spPr>
          <a:xfrm>
            <a:off x="3982715" y="3209925"/>
            <a:ext cx="137636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 métricas se revisan en conjunto.</a:t>
            </a:r>
            <a:endParaRPr lang="en-US" sz="641" dirty="0"/>
          </a:p>
        </p:txBody>
      </p:sp>
      <p:sp>
        <p:nvSpPr>
          <p:cNvPr id="28" name="Text 2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30" name="Text 28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641" dirty="0"/>
          </a:p>
        </p:txBody>
      </p:sp>
      <p:sp>
        <p:nvSpPr>
          <p:cNvPr id="31" name="Text 29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32" name="Text 3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01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Antes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5048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Ahora</a:t>
            </a:r>
            <a:endParaRPr lang="en-US" sz="3420" dirty="0"/>
          </a:p>
        </p:txBody>
      </p:sp>
      <p:sp>
        <p:nvSpPr>
          <p:cNvPr id="5" name="Text 3"/>
          <p:cNvSpPr/>
          <p:nvPr/>
        </p:nvSpPr>
        <p:spPr>
          <a:xfrm>
            <a:off x="490538" y="947737"/>
            <a:ext cx="14668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i="1" spc="-100" kern="0" dirty="0">
                <a:solidFill>
                  <a:srgbClr val="729BD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Trimestre anterior</a:t>
            </a:r>
            <a:endParaRPr lang="en-US" sz="1995" dirty="0"/>
          </a:p>
        </p:txBody>
      </p:sp>
      <p:sp>
        <p:nvSpPr>
          <p:cNvPr id="6" name="Text 4"/>
          <p:cNvSpPr/>
          <p:nvPr/>
        </p:nvSpPr>
        <p:spPr>
          <a:xfrm>
            <a:off x="5062538" y="947737"/>
            <a:ext cx="146685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i="1" spc="-100" kern="0" dirty="0">
                <a:solidFill>
                  <a:srgbClr val="729BD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Este trimestre</a:t>
            </a:r>
            <a:endParaRPr lang="en-US" sz="1995" dirty="0"/>
          </a:p>
        </p:txBody>
      </p:sp>
      <p:sp>
        <p:nvSpPr>
          <p:cNvPr id="7" name="Text 5"/>
          <p:cNvSpPr/>
          <p:nvPr/>
        </p:nvSpPr>
        <p:spPr>
          <a:xfrm>
            <a:off x="509587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ANTES</a:t>
            </a:r>
            <a:endParaRPr lang="en-US" sz="570" dirty="0"/>
          </a:p>
        </p:txBody>
      </p:sp>
      <p:sp>
        <p:nvSpPr>
          <p:cNvPr id="8" name="Text 6"/>
          <p:cNvSpPr/>
          <p:nvPr/>
        </p:nvSpPr>
        <p:spPr>
          <a:xfrm>
            <a:off x="5081588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DESPUÉS</a:t>
            </a:r>
            <a:endParaRPr lang="en-US" sz="570" dirty="0"/>
          </a:p>
        </p:txBody>
      </p:sp>
      <p:sp>
        <p:nvSpPr>
          <p:cNvPr id="9" name="Shape 7"/>
          <p:cNvSpPr/>
          <p:nvPr/>
        </p:nvSpPr>
        <p:spPr>
          <a:xfrm>
            <a:off x="423863" y="2233613"/>
            <a:ext cx="3724275" cy="1885950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423863" y="2233613"/>
            <a:ext cx="3724275" cy="371475"/>
          </a:xfrm>
          <a:prstGeom prst="rect">
            <a:avLst/>
          </a:prstGeom>
          <a:noFill/>
          <a:ln/>
        </p:spPr>
      </p:sp>
      <p:sp>
        <p:nvSpPr>
          <p:cNvPr id="11" name="Shape 9"/>
          <p:cNvSpPr/>
          <p:nvPr/>
        </p:nvSpPr>
        <p:spPr>
          <a:xfrm>
            <a:off x="657225" y="2347913"/>
            <a:ext cx="3252788" cy="142875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657225" y="2347913"/>
            <a:ext cx="128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909638" y="2347913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Propuestas desde cero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3495675" y="2366963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15" name="Shape 13"/>
          <p:cNvSpPr/>
          <p:nvPr/>
        </p:nvSpPr>
        <p:spPr>
          <a:xfrm>
            <a:off x="423863" y="223361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3863" y="2609850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9606" y="2724150"/>
            <a:ext cx="3252788" cy="142875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659606" y="27241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912019" y="2724150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Informes manuales</a:t>
            </a:r>
            <a:endParaRPr lang="en-US" sz="855" dirty="0"/>
          </a:p>
        </p:txBody>
      </p:sp>
      <p:sp>
        <p:nvSpPr>
          <p:cNvPr id="20" name="Text 18"/>
          <p:cNvSpPr/>
          <p:nvPr/>
        </p:nvSpPr>
        <p:spPr>
          <a:xfrm>
            <a:off x="3498056" y="2743200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21" name="Shape 19"/>
          <p:cNvSpPr/>
          <p:nvPr/>
        </p:nvSpPr>
        <p:spPr>
          <a:xfrm>
            <a:off x="423863" y="2986088"/>
            <a:ext cx="3724275" cy="371475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657225" y="3100388"/>
            <a:ext cx="3252788" cy="142875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657225" y="3100388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5" dirty="0"/>
          </a:p>
        </p:txBody>
      </p:sp>
      <p:sp>
        <p:nvSpPr>
          <p:cNvPr id="24" name="Text 22"/>
          <p:cNvSpPr/>
          <p:nvPr/>
        </p:nvSpPr>
        <p:spPr>
          <a:xfrm>
            <a:off x="909638" y="3100388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Datos en hojas sueltas</a:t>
            </a:r>
            <a:endParaRPr lang="en-US" sz="855" dirty="0"/>
          </a:p>
        </p:txBody>
      </p:sp>
      <p:sp>
        <p:nvSpPr>
          <p:cNvPr id="25" name="Text 23"/>
          <p:cNvSpPr/>
          <p:nvPr/>
        </p:nvSpPr>
        <p:spPr>
          <a:xfrm>
            <a:off x="3495675" y="3119438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26" name="Shape 24"/>
          <p:cNvSpPr/>
          <p:nvPr/>
        </p:nvSpPr>
        <p:spPr>
          <a:xfrm>
            <a:off x="423863" y="2986088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3863" y="3362325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9606" y="3476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659606" y="3476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5" dirty="0"/>
          </a:p>
        </p:txBody>
      </p:sp>
      <p:sp>
        <p:nvSpPr>
          <p:cNvPr id="30" name="Text 28"/>
          <p:cNvSpPr/>
          <p:nvPr/>
        </p:nvSpPr>
        <p:spPr>
          <a:xfrm>
            <a:off x="912019" y="3476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Seguimiento por correo</a:t>
            </a:r>
            <a:endParaRPr lang="en-US" sz="855" dirty="0"/>
          </a:p>
        </p:txBody>
      </p:sp>
      <p:sp>
        <p:nvSpPr>
          <p:cNvPr id="31" name="Text 29"/>
          <p:cNvSpPr/>
          <p:nvPr/>
        </p:nvSpPr>
        <p:spPr>
          <a:xfrm>
            <a:off x="3498056" y="3495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32" name="Shape 30"/>
          <p:cNvSpPr/>
          <p:nvPr/>
        </p:nvSpPr>
        <p:spPr>
          <a:xfrm>
            <a:off x="423863" y="373856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9606" y="3857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659606" y="3857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35" name="Text 33"/>
          <p:cNvSpPr/>
          <p:nvPr/>
        </p:nvSpPr>
        <p:spPr>
          <a:xfrm>
            <a:off x="912019" y="3857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Ingreso sin guía</a:t>
            </a:r>
            <a:endParaRPr lang="en-US" sz="855" dirty="0"/>
          </a:p>
        </p:txBody>
      </p:sp>
      <p:sp>
        <p:nvSpPr>
          <p:cNvPr id="36" name="Text 34"/>
          <p:cNvSpPr/>
          <p:nvPr/>
        </p:nvSpPr>
        <p:spPr>
          <a:xfrm>
            <a:off x="3498056" y="3876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Alto esfuerzo</a:t>
            </a:r>
            <a:endParaRPr lang="en-US" sz="570" dirty="0"/>
          </a:p>
        </p:txBody>
      </p:sp>
      <p:sp>
        <p:nvSpPr>
          <p:cNvPr id="37" name="Shape 35"/>
          <p:cNvSpPr/>
          <p:nvPr/>
        </p:nvSpPr>
        <p:spPr>
          <a:xfrm>
            <a:off x="423863" y="4119562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95863" y="2233613"/>
            <a:ext cx="3724275" cy="1885950"/>
          </a:xfrm>
          <a:prstGeom prst="rect">
            <a:avLst/>
          </a:prstGeom>
          <a:noFill/>
          <a:ln/>
        </p:spPr>
      </p:sp>
      <p:sp>
        <p:nvSpPr>
          <p:cNvPr id="39" name="Shape 37"/>
          <p:cNvSpPr/>
          <p:nvPr/>
        </p:nvSpPr>
        <p:spPr>
          <a:xfrm>
            <a:off x="4995863" y="2233613"/>
            <a:ext cx="3724275" cy="371475"/>
          </a:xfrm>
          <a:prstGeom prst="rect">
            <a:avLst/>
          </a:prstGeom>
          <a:noFill/>
          <a:ln/>
        </p:spPr>
      </p:sp>
      <p:sp>
        <p:nvSpPr>
          <p:cNvPr id="40" name="Shape 38"/>
          <p:cNvSpPr/>
          <p:nvPr/>
        </p:nvSpPr>
        <p:spPr>
          <a:xfrm>
            <a:off x="5229225" y="2347913"/>
            <a:ext cx="3252788" cy="142875"/>
          </a:xfrm>
          <a:prstGeom prst="rect">
            <a:avLst/>
          </a:prstGeom>
          <a:noFill/>
          <a:ln/>
        </p:spPr>
      </p:sp>
      <p:sp>
        <p:nvSpPr>
          <p:cNvPr id="41" name="Text 39"/>
          <p:cNvSpPr/>
          <p:nvPr/>
        </p:nvSpPr>
        <p:spPr>
          <a:xfrm>
            <a:off x="5229225" y="2347913"/>
            <a:ext cx="1285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855" dirty="0"/>
          </a:p>
        </p:txBody>
      </p:sp>
      <p:sp>
        <p:nvSpPr>
          <p:cNvPr id="42" name="Text 40"/>
          <p:cNvSpPr/>
          <p:nvPr/>
        </p:nvSpPr>
        <p:spPr>
          <a:xfrm>
            <a:off x="5481638" y="2347913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Propuestas desde plantilla</a:t>
            </a:r>
            <a:endParaRPr lang="en-US" sz="855" dirty="0"/>
          </a:p>
        </p:txBody>
      </p:sp>
      <p:sp>
        <p:nvSpPr>
          <p:cNvPr id="43" name="Text 41"/>
          <p:cNvSpPr/>
          <p:nvPr/>
        </p:nvSpPr>
        <p:spPr>
          <a:xfrm>
            <a:off x="8067675" y="2366963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44" name="Shape 42"/>
          <p:cNvSpPr/>
          <p:nvPr/>
        </p:nvSpPr>
        <p:spPr>
          <a:xfrm>
            <a:off x="4995863" y="223361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95863" y="2609850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231606" y="2724150"/>
            <a:ext cx="3252788" cy="142875"/>
          </a:xfrm>
          <a:prstGeom prst="rect">
            <a:avLst/>
          </a:prstGeom>
          <a:noFill/>
          <a:ln/>
        </p:spPr>
      </p:sp>
      <p:sp>
        <p:nvSpPr>
          <p:cNvPr id="47" name="Text 45"/>
          <p:cNvSpPr/>
          <p:nvPr/>
        </p:nvSpPr>
        <p:spPr>
          <a:xfrm>
            <a:off x="5231606" y="27241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855" dirty="0"/>
          </a:p>
        </p:txBody>
      </p:sp>
      <p:sp>
        <p:nvSpPr>
          <p:cNvPr id="48" name="Text 46"/>
          <p:cNvSpPr/>
          <p:nvPr/>
        </p:nvSpPr>
        <p:spPr>
          <a:xfrm>
            <a:off x="5484019" y="2724150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Informes preparados por agentes</a:t>
            </a:r>
            <a:endParaRPr lang="en-US" sz="855" dirty="0"/>
          </a:p>
        </p:txBody>
      </p:sp>
      <p:sp>
        <p:nvSpPr>
          <p:cNvPr id="49" name="Text 47"/>
          <p:cNvSpPr/>
          <p:nvPr/>
        </p:nvSpPr>
        <p:spPr>
          <a:xfrm>
            <a:off x="8070056" y="2743200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50" name="Shape 48"/>
          <p:cNvSpPr/>
          <p:nvPr/>
        </p:nvSpPr>
        <p:spPr>
          <a:xfrm>
            <a:off x="4995863" y="2986088"/>
            <a:ext cx="3724275" cy="371475"/>
          </a:xfrm>
          <a:prstGeom prst="rect">
            <a:avLst/>
          </a:prstGeom>
          <a:noFill/>
          <a:ln/>
        </p:spPr>
      </p:sp>
      <p:sp>
        <p:nvSpPr>
          <p:cNvPr id="51" name="Shape 49"/>
          <p:cNvSpPr/>
          <p:nvPr/>
        </p:nvSpPr>
        <p:spPr>
          <a:xfrm>
            <a:off x="5229225" y="3100388"/>
            <a:ext cx="3252788" cy="142875"/>
          </a:xfrm>
          <a:prstGeom prst="rect">
            <a:avLst/>
          </a:prstGeom>
          <a:noFill/>
          <a:ln/>
        </p:spPr>
      </p:sp>
      <p:sp>
        <p:nvSpPr>
          <p:cNvPr id="52" name="Text 50"/>
          <p:cNvSpPr/>
          <p:nvPr/>
        </p:nvSpPr>
        <p:spPr>
          <a:xfrm>
            <a:off x="5229225" y="3100388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855" dirty="0"/>
          </a:p>
        </p:txBody>
      </p:sp>
      <p:sp>
        <p:nvSpPr>
          <p:cNvPr id="53" name="Text 51"/>
          <p:cNvSpPr/>
          <p:nvPr/>
        </p:nvSpPr>
        <p:spPr>
          <a:xfrm>
            <a:off x="5481638" y="3100388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 tablero por cliente</a:t>
            </a:r>
            <a:endParaRPr lang="en-US" sz="855" dirty="0"/>
          </a:p>
        </p:txBody>
      </p:sp>
      <p:sp>
        <p:nvSpPr>
          <p:cNvPr id="54" name="Text 52"/>
          <p:cNvSpPr/>
          <p:nvPr/>
        </p:nvSpPr>
        <p:spPr>
          <a:xfrm>
            <a:off x="8067675" y="3119438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55" name="Shape 53"/>
          <p:cNvSpPr/>
          <p:nvPr/>
        </p:nvSpPr>
        <p:spPr>
          <a:xfrm>
            <a:off x="4995863" y="2986088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95863" y="3362325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31606" y="3476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58" name="Text 56"/>
          <p:cNvSpPr/>
          <p:nvPr/>
        </p:nvSpPr>
        <p:spPr>
          <a:xfrm>
            <a:off x="5231606" y="3476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855" dirty="0"/>
          </a:p>
        </p:txBody>
      </p:sp>
      <p:sp>
        <p:nvSpPr>
          <p:cNvPr id="59" name="Text 57"/>
          <p:cNvSpPr/>
          <p:nvPr/>
        </p:nvSpPr>
        <p:spPr>
          <a:xfrm>
            <a:off x="5484019" y="3476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Sesión mensual fija</a:t>
            </a:r>
            <a:endParaRPr lang="en-US" sz="855" dirty="0"/>
          </a:p>
        </p:txBody>
      </p:sp>
      <p:sp>
        <p:nvSpPr>
          <p:cNvPr id="60" name="Text 58"/>
          <p:cNvSpPr/>
          <p:nvPr/>
        </p:nvSpPr>
        <p:spPr>
          <a:xfrm>
            <a:off x="8070056" y="3495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61" name="Shape 59"/>
          <p:cNvSpPr/>
          <p:nvPr/>
        </p:nvSpPr>
        <p:spPr>
          <a:xfrm>
            <a:off x="4995863" y="3738563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31606" y="3857625"/>
            <a:ext cx="3252788" cy="142875"/>
          </a:xfrm>
          <a:prstGeom prst="rect">
            <a:avLst/>
          </a:prstGeom>
          <a:noFill/>
          <a:ln/>
        </p:spPr>
      </p:sp>
      <p:sp>
        <p:nvSpPr>
          <p:cNvPr id="63" name="Text 61"/>
          <p:cNvSpPr/>
          <p:nvPr/>
        </p:nvSpPr>
        <p:spPr>
          <a:xfrm>
            <a:off x="5231606" y="3857625"/>
            <a:ext cx="1571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855" dirty="0"/>
          </a:p>
        </p:txBody>
      </p:sp>
      <p:sp>
        <p:nvSpPr>
          <p:cNvPr id="64" name="Text 62"/>
          <p:cNvSpPr/>
          <p:nvPr/>
        </p:nvSpPr>
        <p:spPr>
          <a:xfrm>
            <a:off x="5484019" y="3857625"/>
            <a:ext cx="160972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Manual de bienvenida</a:t>
            </a:r>
            <a:endParaRPr lang="en-US" sz="855" dirty="0"/>
          </a:p>
        </p:txBody>
      </p:sp>
      <p:sp>
        <p:nvSpPr>
          <p:cNvPr id="65" name="Text 63"/>
          <p:cNvSpPr/>
          <p:nvPr/>
        </p:nvSpPr>
        <p:spPr>
          <a:xfrm>
            <a:off x="8070056" y="3876675"/>
            <a:ext cx="414338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8"/>
              </a:lnSpc>
              <a:buNone/>
            </a:pPr>
            <a:r>
              <a:rPr lang="en-US" sz="57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Bajo esfuerzo</a:t>
            </a:r>
            <a:endParaRPr lang="en-US" sz="570" dirty="0"/>
          </a:p>
        </p:txBody>
      </p:sp>
      <p:sp>
        <p:nvSpPr>
          <p:cNvPr id="66" name="Shape 64"/>
          <p:cNvSpPr/>
          <p:nvPr/>
        </p:nvSpPr>
        <p:spPr>
          <a:xfrm>
            <a:off x="4995863" y="4119562"/>
            <a:ext cx="3724275" cy="0"/>
          </a:xfrm>
          <a:prstGeom prst="line">
            <a:avLst/>
          </a:prstGeom>
          <a:noFill/>
          <a:ln w="4524">
            <a:solidFill>
              <a:srgbClr val="B0B0B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6263" y="1543050"/>
            <a:ext cx="366713" cy="366713"/>
          </a:xfrm>
          <a:prstGeom prst="ellipse">
            <a:avLst/>
          </a:prstGeom>
          <a:solidFill>
            <a:srgbClr val="729BDD"/>
          </a:solidFill>
          <a:ln/>
        </p:spPr>
        <p:txBody>
          <a:bodyPr rtlCol="0" anchor="ctr" lIns="0" rIns="0"/>
          <a:lstStyle/>
          <a:p>
            <a:pPr indent="0" marL="0" algn="ctr">
              <a:buNone/>
            </a:pPr>
            <a:r>
              <a:rPr lang="en-US" dirty="0">
                <a:solidFill>
                  <a:srgbClr val="000000"/>
                </a:solidFill>
              </a:rPr>
              <a:t>VS</a:t>
            </a: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70" name="Text 68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641" dirty="0"/>
          </a:p>
        </p:txBody>
      </p:sp>
      <p:sp>
        <p:nvSpPr>
          <p:cNvPr id="71" name="Text 69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72" name="Text 7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0">
            <a:off x="6219825" y="1257300"/>
            <a:ext cx="2919413" cy="3886200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0">
            <a:off x="509587" y="2519363"/>
            <a:ext cx="1947863" cy="194786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95675" y="1566863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Tres prioridades para el próximo trimestre.</a:t>
            </a:r>
            <a:endParaRPr lang="en-US" sz="641" dirty="0"/>
          </a:p>
        </p:txBody>
      </p:sp>
      <p:sp>
        <p:nvSpPr>
          <p:cNvPr id="5" name="Text 3"/>
          <p:cNvSpPr/>
          <p:nvPr/>
        </p:nvSpPr>
        <p:spPr>
          <a:xfrm>
            <a:off x="3495675" y="2305050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Cada prioridad tiene una persona responsable.</a:t>
            </a:r>
            <a:endParaRPr lang="en-US" sz="641" dirty="0"/>
          </a:p>
        </p:txBody>
      </p:sp>
      <p:sp>
        <p:nvSpPr>
          <p:cNvPr id="6" name="Text 4"/>
          <p:cNvSpPr/>
          <p:nvPr/>
        </p:nvSpPr>
        <p:spPr>
          <a:xfrm>
            <a:off x="3495675" y="3043238"/>
            <a:ext cx="23383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avance se revisa cada dos semanas.</a:t>
            </a:r>
            <a:endParaRPr lang="en-US" sz="641" dirty="0"/>
          </a:p>
        </p:txBody>
      </p:sp>
      <p:sp>
        <p:nvSpPr>
          <p:cNvPr id="7" name="Text 5"/>
          <p:cNvSpPr/>
          <p:nvPr/>
        </p:nvSpPr>
        <p:spPr>
          <a:xfrm>
            <a:off x="3495675" y="3857625"/>
            <a:ext cx="2338388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 que funciona se documenta en el manual.</a:t>
            </a:r>
            <a:endParaRPr lang="en-US" sz="641" dirty="0"/>
          </a:p>
        </p:txBody>
      </p:sp>
      <p:sp>
        <p:nvSpPr>
          <p:cNvPr id="8" name="Shape 6"/>
          <p:cNvSpPr/>
          <p:nvPr/>
        </p:nvSpPr>
        <p:spPr>
          <a:xfrm>
            <a:off x="2890838" y="1609725"/>
            <a:ext cx="275417" cy="275417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9" name="Shape 7"/>
          <p:cNvSpPr/>
          <p:nvPr/>
        </p:nvSpPr>
        <p:spPr>
          <a:xfrm>
            <a:off x="2975139" y="1691098"/>
            <a:ext cx="112671" cy="112671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0" name="Shape 8"/>
          <p:cNvSpPr/>
          <p:nvPr/>
        </p:nvSpPr>
        <p:spPr>
          <a:xfrm>
            <a:off x="2890838" y="3086100"/>
            <a:ext cx="275417" cy="275417"/>
          </a:xfrm>
          <a:prstGeom prst="roundRect">
            <a:avLst/>
          </a:prstGeom>
          <a:solidFill>
            <a:srgbClr val="729BDD"/>
          </a:solidFill>
          <a:ln/>
        </p:spPr>
      </p:sp>
      <p:sp>
        <p:nvSpPr>
          <p:cNvPr id="11" name="Shape 9"/>
          <p:cNvSpPr/>
          <p:nvPr/>
        </p:nvSpPr>
        <p:spPr>
          <a:xfrm>
            <a:off x="2975139" y="3167473"/>
            <a:ext cx="112671" cy="112671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Acuerdos</a:t>
            </a:r>
            <a:endParaRPr lang="en-US" sz="3420" dirty="0"/>
          </a:p>
        </p:txBody>
      </p:sp>
      <p:sp>
        <p:nvSpPr>
          <p:cNvPr id="13" name="Text 11"/>
          <p:cNvSpPr/>
          <p:nvPr/>
        </p:nvSpPr>
        <p:spPr>
          <a:xfrm>
            <a:off x="509587" y="257175"/>
            <a:ext cx="68103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1"/>
              </a:lnSpc>
              <a:buNone/>
            </a:pPr>
            <a:r>
              <a:rPr lang="en-US" sz="570" b="1" spc="114" kern="0" dirty="0">
                <a:solidFill>
                  <a:srgbClr val="CE635D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CIERRE</a:t>
            </a:r>
            <a:endParaRPr lang="en-US" sz="570" dirty="0"/>
          </a:p>
        </p:txBody>
      </p:sp>
      <p:sp>
        <p:nvSpPr>
          <p:cNvPr id="14" name="Text 12"/>
          <p:cNvSpPr/>
          <p:nvPr/>
        </p:nvSpPr>
        <p:spPr>
          <a:xfrm>
            <a:off x="2895600" y="2353653"/>
            <a:ext cx="264687" cy="264687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963670" y="2421716"/>
            <a:ext cx="132344" cy="132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6" name="Text 14"/>
          <p:cNvSpPr/>
          <p:nvPr/>
        </p:nvSpPr>
        <p:spPr>
          <a:xfrm>
            <a:off x="2895600" y="3829050"/>
            <a:ext cx="264687" cy="264687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2963670" y="3897112"/>
            <a:ext cx="132344" cy="132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8" name="Text 16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8315325" y="4819650"/>
            <a:ext cx="571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17</a:t>
            </a:r>
            <a:endParaRPr lang="en-US" sz="713" dirty="0"/>
          </a:p>
        </p:txBody>
      </p:sp>
      <p:sp>
        <p:nvSpPr>
          <p:cNvPr id="21" name="Text 19"/>
          <p:cNvSpPr/>
          <p:nvPr/>
        </p:nvSpPr>
        <p:spPr>
          <a:xfrm>
            <a:off x="766763" y="4819650"/>
            <a:ext cx="2100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713" dirty="0"/>
          </a:p>
        </p:txBody>
      </p:sp>
      <p:sp>
        <p:nvSpPr>
          <p:cNvPr id="22" name="Text 20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76450" y="-738187"/>
            <a:ext cx="6619875" cy="6619875"/>
          </a:xfrm>
          <a:prstGeom prst="ellipse">
            <a:avLst/>
          </a:prstGeom>
          <a:noFill/>
          <a:ln w="4524">
            <a:solidFill>
              <a:srgbClr val="B0B0B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86213" y="981075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5775" y="1924050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9588" y="2867025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62412" y="3810000"/>
            <a:ext cx="352425" cy="352425"/>
          </a:xfrm>
          <a:prstGeom prst="ellipse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62125" y="1052513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#1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2071688" y="1995487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#2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2095500" y="2938463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#3</a:t>
            </a:r>
            <a:endParaRPr lang="en-US" sz="1283" dirty="0"/>
          </a:p>
        </p:txBody>
      </p:sp>
      <p:sp>
        <p:nvSpPr>
          <p:cNvPr id="10" name="Text 8"/>
          <p:cNvSpPr/>
          <p:nvPr/>
        </p:nvSpPr>
        <p:spPr>
          <a:xfrm>
            <a:off x="1838325" y="3881438"/>
            <a:ext cx="2133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A2A2A2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Pilar #4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4524375" y="881063"/>
            <a:ext cx="3830315" cy="604838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4524375" y="881063"/>
            <a:ext cx="38290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Dignidad Humana y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Respeto como Fundamento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4524375" y="1247775"/>
            <a:ext cx="38303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Los sistemas de IA están orientados a garantizar la integridad de clientes, colaboradores y directivos, evitando la discriminación o vulneración de derechos.</a:t>
            </a:r>
            <a:endParaRPr lang="en-US" sz="641" dirty="0"/>
          </a:p>
        </p:txBody>
      </p:sp>
      <p:sp>
        <p:nvSpPr>
          <p:cNvPr id="14" name="Shape 12"/>
          <p:cNvSpPr/>
          <p:nvPr/>
        </p:nvSpPr>
        <p:spPr>
          <a:xfrm>
            <a:off x="4833938" y="1824038"/>
            <a:ext cx="3835078" cy="604838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4833938" y="1824038"/>
            <a:ext cx="3833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Equidad e Inclusión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como Principio Rector</a:t>
            </a:r>
            <a:endParaRPr lang="en-US" sz="855" dirty="0"/>
          </a:p>
        </p:txBody>
      </p:sp>
      <p:sp>
        <p:nvSpPr>
          <p:cNvPr id="16" name="Text 14"/>
          <p:cNvSpPr/>
          <p:nvPr/>
        </p:nvSpPr>
        <p:spPr>
          <a:xfrm>
            <a:off x="4833938" y="2190750"/>
            <a:ext cx="383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Garantizar la igualdad de oportunidades y velar por un uso responsable, objetivo e imparcial de la información procesada.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4857750" y="2767013"/>
            <a:ext cx="3835078" cy="604838"/>
          </a:xfrm>
          <a:prstGeom prst="rect">
            <a:avLst/>
          </a:prstGeom>
          <a:noFill/>
          <a:ln/>
        </p:spPr>
      </p:sp>
      <p:sp>
        <p:nvSpPr>
          <p:cNvPr id="18" name="Text 16"/>
          <p:cNvSpPr/>
          <p:nvPr/>
        </p:nvSpPr>
        <p:spPr>
          <a:xfrm>
            <a:off x="4857750" y="2767013"/>
            <a:ext cx="3833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Privacidad y 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Protección de Datos</a:t>
            </a:r>
            <a:endParaRPr lang="en-US" sz="855" dirty="0"/>
          </a:p>
        </p:txBody>
      </p:sp>
      <p:sp>
        <p:nvSpPr>
          <p:cNvPr id="19" name="Text 17"/>
          <p:cNvSpPr/>
          <p:nvPr/>
        </p:nvSpPr>
        <p:spPr>
          <a:xfrm>
            <a:off x="4857750" y="3133725"/>
            <a:ext cx="383507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 herramientas digitales deben aplicarse bajo criterios de responsabilidad: solo los datos necesarios, seguridad tecnológica y consentimiento informado.</a:t>
            </a:r>
            <a:endParaRPr lang="en-US" sz="641" dirty="0"/>
          </a:p>
        </p:txBody>
      </p:sp>
      <p:sp>
        <p:nvSpPr>
          <p:cNvPr id="20" name="Shape 18"/>
          <p:cNvSpPr/>
          <p:nvPr/>
        </p:nvSpPr>
        <p:spPr>
          <a:xfrm>
            <a:off x="4600575" y="3709988"/>
            <a:ext cx="3839840" cy="604838"/>
          </a:xfrm>
          <a:prstGeom prst="rect">
            <a:avLst/>
          </a:prstGeom>
          <a:noFill/>
          <a:ln/>
        </p:spPr>
      </p:sp>
      <p:sp>
        <p:nvSpPr>
          <p:cNvPr id="21" name="Text 19"/>
          <p:cNvSpPr/>
          <p:nvPr/>
        </p:nvSpPr>
        <p:spPr>
          <a:xfrm>
            <a:off x="4600575" y="3709988"/>
            <a:ext cx="38385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Transparencia</a:t>
            </a:r>
            <a:endParaRPr lang="en-US" sz="855" dirty="0"/>
          </a:p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el Uso de IA</a:t>
            </a:r>
            <a:endParaRPr lang="en-US" sz="855" dirty="0"/>
          </a:p>
        </p:txBody>
      </p:sp>
      <p:sp>
        <p:nvSpPr>
          <p:cNvPr id="22" name="Text 20"/>
          <p:cNvSpPr/>
          <p:nvPr/>
        </p:nvSpPr>
        <p:spPr>
          <a:xfrm>
            <a:off x="4600575" y="4076700"/>
            <a:ext cx="38398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uso de herramientas de IA dentro de los procesos de trabajo debe ser informado de manera clara a los interesados y clientes, especificando su alcance y aplicación.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1038225" y="1866900"/>
            <a:ext cx="1957388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Los 4 </a:t>
            </a:r>
            <a:endParaRPr lang="en-US" sz="3420" dirty="0"/>
          </a:p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Principios </a:t>
            </a:r>
            <a:endParaRPr lang="en-US" sz="3420" dirty="0"/>
          </a:p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Rectores</a:t>
            </a:r>
            <a:endParaRPr lang="en-US" sz="3420" dirty="0"/>
          </a:p>
        </p:txBody>
      </p:sp>
      <p:sp>
        <p:nvSpPr>
          <p:cNvPr id="24" name="Text 22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26" name="Text 24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641" dirty="0"/>
          </a:p>
        </p:txBody>
      </p:sp>
      <p:sp>
        <p:nvSpPr>
          <p:cNvPr id="27" name="Text 25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28" name="Text 26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72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Aprendizajes</a:t>
            </a:r>
            <a:endParaRPr lang="en-US" sz="4988" dirty="0"/>
          </a:p>
        </p:txBody>
      </p:sp>
      <p:sp>
        <p:nvSpPr>
          <p:cNvPr id="8" name="Text 1"/>
          <p:cNvSpPr/>
          <p:nvPr/>
        </p:nvSpPr>
        <p:spPr>
          <a:xfrm>
            <a:off x="747713" y="2900363"/>
            <a:ext cx="4476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2</a:t>
            </a:r>
            <a:endParaRPr lang="en-US" sz="1283" dirty="0"/>
          </a:p>
        </p:txBody>
      </p:sp>
      <p:sp>
        <p:nvSpPr>
          <p:cNvPr id="10" name="Text 3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4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2" name="Text 5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14" name="Text 7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8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0513" y="2190750"/>
            <a:ext cx="8567738" cy="2281238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455050" y="280988"/>
            <a:ext cx="2074126" cy="1823453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0513" y="280988"/>
            <a:ext cx="2074126" cy="182345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24526" y="403531"/>
            <a:ext cx="16061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1 · Revisar los datos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619588" y="280988"/>
            <a:ext cx="2074126" cy="1823453"/>
          </a:xfrm>
          <a:prstGeom prst="round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784125" y="280988"/>
            <a:ext cx="2074126" cy="1823453"/>
          </a:xfrm>
          <a:prstGeom prst="rect">
            <a:avLst/>
          </a:prstGeom>
          <a:solidFill>
            <a:srgbClr val="B0B0B8">
              <a:alpha val="3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47688" y="2381250"/>
            <a:ext cx="8077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Trabajo en grupos · 20 minutos. Cada grupo elige una prioridad para el próximo trimestre y define quién la lidera.</a:t>
            </a:r>
            <a:endParaRPr lang="en-US" sz="1283" dirty="0"/>
          </a:p>
        </p:txBody>
      </p:sp>
      <p:sp>
        <p:nvSpPr>
          <p:cNvPr id="9" name="Text 7"/>
          <p:cNvSpPr/>
          <p:nvPr/>
        </p:nvSpPr>
        <p:spPr>
          <a:xfrm>
            <a:off x="2694384" y="403531"/>
            <a:ext cx="1595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2 · Proponer una prioridad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4858903" y="403531"/>
            <a:ext cx="15954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3 · Asignar responsable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7018120" y="403531"/>
            <a:ext cx="160611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b="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Paso 4 · Presentarla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14" name="Text 12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729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rcRect l="0" r="16559" t="0" b="3159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rcRect l="0" r="31364" t="0" b="31429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709613" y="32575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Plan</a:t>
            </a:r>
            <a:endParaRPr lang="en-US" sz="4988" dirty="0"/>
          </a:p>
        </p:txBody>
      </p:sp>
      <p:sp>
        <p:nvSpPr>
          <p:cNvPr id="6" name="Text 1"/>
          <p:cNvSpPr/>
          <p:nvPr/>
        </p:nvSpPr>
        <p:spPr>
          <a:xfrm>
            <a:off x="747713" y="2900363"/>
            <a:ext cx="45243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Parte 3</a:t>
            </a:r>
            <a:endParaRPr lang="en-US" sz="1283" dirty="0"/>
          </a:p>
        </p:txBody>
      </p:sp>
      <p:sp>
        <p:nvSpPr>
          <p:cNvPr id="9" name="Text 2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3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11" name="Text 4"/>
          <p:cNvSpPr/>
          <p:nvPr/>
        </p:nvSpPr>
        <p:spPr>
          <a:xfrm>
            <a:off x="8320088" y="4811283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641" dirty="0"/>
          </a:p>
        </p:txBody>
      </p:sp>
      <p:sp>
        <p:nvSpPr>
          <p:cNvPr id="12" name="Text 5"/>
          <p:cNvSpPr/>
          <p:nvPr/>
        </p:nvSpPr>
        <p:spPr>
          <a:xfrm>
            <a:off x="766763" y="4811283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10122A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13" name="Text 6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7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9188" y="-109537"/>
            <a:ext cx="4214813" cy="5276850"/>
          </a:xfrm>
          <a:prstGeom prst="rect">
            <a:avLst/>
          </a:prstGeom>
          <a:solidFill>
            <a:srgbClr val="1012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476250"/>
            <a:ext cx="2495550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Cifras del trimestre</a:t>
            </a:r>
            <a:endParaRPr lang="en-US" sz="3420" dirty="0"/>
          </a:p>
        </p:txBody>
      </p:sp>
      <p:sp>
        <p:nvSpPr>
          <p:cNvPr id="4" name="Text 2"/>
          <p:cNvSpPr/>
          <p:nvPr/>
        </p:nvSpPr>
        <p:spPr>
          <a:xfrm>
            <a:off x="490538" y="947737"/>
            <a:ext cx="140970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4"/>
              </a:lnSpc>
              <a:buNone/>
            </a:pPr>
            <a:r>
              <a:rPr lang="en-US" sz="1995" spc="-100" kern="0" dirty="0">
                <a:solidFill>
                  <a:srgbClr val="B0B0B8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Equipo Keyons</a:t>
            </a:r>
            <a:endParaRPr lang="en-US" sz="1995" dirty="0"/>
          </a:p>
        </p:txBody>
      </p:sp>
      <p:sp>
        <p:nvSpPr>
          <p:cNvPr id="5" name="Text 3"/>
          <p:cNvSpPr/>
          <p:nvPr/>
        </p:nvSpPr>
        <p:spPr>
          <a:xfrm>
            <a:off x="2443163" y="3895725"/>
            <a:ext cx="159543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 xml:space="preserve">De las horas del equipo </a:t>
            </a:r>
            <a:endParaRPr lang="en-US" sz="1283" dirty="0"/>
          </a:p>
          <a:p>
            <a:pPr algn="l" indent="0" marL="0">
              <a:lnSpc>
                <a:spcPts val="1577"/>
              </a:lnSpc>
              <a:buNone/>
            </a:pPr>
            <a:r>
              <a:rPr lang="en-US" sz="1283" spc="-38" kern="0" dirty="0">
                <a:solidFill>
                  <a:srgbClr val="B0B0B8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 fueron en tareas internas.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4938713" y="281937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7" name="Shape 5"/>
          <p:cNvSpPr/>
          <p:nvPr/>
        </p:nvSpPr>
        <p:spPr>
          <a:xfrm>
            <a:off x="5224463" y="419035"/>
            <a:ext cx="3633788" cy="6096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5224463" y="419035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62 %</a:t>
            </a:r>
            <a:endParaRPr lang="en-US" sz="3420" dirty="0"/>
          </a:p>
        </p:txBody>
      </p:sp>
      <p:sp>
        <p:nvSpPr>
          <p:cNvPr id="9" name="Shape 7"/>
          <p:cNvSpPr/>
          <p:nvPr/>
        </p:nvSpPr>
        <p:spPr>
          <a:xfrm>
            <a:off x="5224463" y="1028635"/>
            <a:ext cx="3633788" cy="188574"/>
          </a:xfrm>
          <a:prstGeom prst="rect">
            <a:avLst/>
          </a:prstGeom>
          <a:noFill/>
          <a:ln/>
        </p:spPr>
      </p:sp>
      <p:sp>
        <p:nvSpPr>
          <p:cNvPr id="10" name="Shape 8"/>
          <p:cNvSpPr/>
          <p:nvPr/>
        </p:nvSpPr>
        <p:spPr>
          <a:xfrm>
            <a:off x="5224463" y="1028635"/>
            <a:ext cx="3633788" cy="142875"/>
          </a:xfrm>
          <a:prstGeom prst="rect">
            <a:avLst/>
          </a:prstGeom>
          <a:noFill/>
          <a:ln/>
        </p:spPr>
      </p:sp>
      <p:sp>
        <p:nvSpPr>
          <p:cNvPr id="11" name="Text 9"/>
          <p:cNvSpPr/>
          <p:nvPr/>
        </p:nvSpPr>
        <p:spPr>
          <a:xfrm>
            <a:off x="5224463" y="1028635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 clientes renueva</a:t>
            </a:r>
            <a:endParaRPr lang="en-US" sz="855" dirty="0"/>
          </a:p>
        </p:txBody>
      </p:sp>
      <p:sp>
        <p:nvSpPr>
          <p:cNvPr id="12" name="Shape 10"/>
          <p:cNvSpPr/>
          <p:nvPr/>
        </p:nvSpPr>
        <p:spPr>
          <a:xfrm>
            <a:off x="4938713" y="2459755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224463" y="2596853"/>
            <a:ext cx="3633788" cy="609600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224463" y="2596853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4F4F4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 sem</a:t>
            </a:r>
            <a:endParaRPr lang="en-US" sz="3420" dirty="0"/>
          </a:p>
        </p:txBody>
      </p:sp>
      <p:sp>
        <p:nvSpPr>
          <p:cNvPr id="15" name="Shape 13"/>
          <p:cNvSpPr/>
          <p:nvPr/>
        </p:nvSpPr>
        <p:spPr>
          <a:xfrm>
            <a:off x="5224463" y="3206453"/>
            <a:ext cx="3633788" cy="188574"/>
          </a:xfrm>
          <a:prstGeom prst="rect">
            <a:avLst/>
          </a:prstGeom>
          <a:noFill/>
          <a:ln/>
        </p:spPr>
      </p:sp>
      <p:sp>
        <p:nvSpPr>
          <p:cNvPr id="16" name="Shape 14"/>
          <p:cNvSpPr/>
          <p:nvPr/>
        </p:nvSpPr>
        <p:spPr>
          <a:xfrm>
            <a:off x="5224463" y="320645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224463" y="3206453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tiempo de entrega</a:t>
            </a:r>
            <a:endParaRPr lang="en-US" sz="855" dirty="0"/>
          </a:p>
        </p:txBody>
      </p:sp>
      <p:sp>
        <p:nvSpPr>
          <p:cNvPr id="18" name="Shape 16"/>
          <p:cNvSpPr/>
          <p:nvPr/>
        </p:nvSpPr>
        <p:spPr>
          <a:xfrm>
            <a:off x="4938713" y="3545605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224463" y="3682703"/>
            <a:ext cx="3633788" cy="609600"/>
          </a:xfrm>
          <a:prstGeom prst="rect">
            <a:avLst/>
          </a:prstGeom>
          <a:noFill/>
          <a:ln/>
        </p:spPr>
      </p:sp>
      <p:sp>
        <p:nvSpPr>
          <p:cNvPr id="20" name="Text 18"/>
          <p:cNvSpPr/>
          <p:nvPr/>
        </p:nvSpPr>
        <p:spPr>
          <a:xfrm>
            <a:off x="5224463" y="3682703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</a:t>
            </a:r>
            <a:endParaRPr lang="en-US" sz="3420" dirty="0"/>
          </a:p>
        </p:txBody>
      </p:sp>
      <p:sp>
        <p:nvSpPr>
          <p:cNvPr id="21" name="Shape 19"/>
          <p:cNvSpPr/>
          <p:nvPr/>
        </p:nvSpPr>
        <p:spPr>
          <a:xfrm>
            <a:off x="5224463" y="4292303"/>
            <a:ext cx="3633788" cy="188574"/>
          </a:xfrm>
          <a:prstGeom prst="rect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5224463" y="4292303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3" name="Text 21"/>
          <p:cNvSpPr/>
          <p:nvPr/>
        </p:nvSpPr>
        <p:spPr>
          <a:xfrm>
            <a:off x="5224463" y="4292303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clientes activos</a:t>
            </a:r>
            <a:endParaRPr lang="en-US" sz="855" dirty="0"/>
          </a:p>
        </p:txBody>
      </p:sp>
      <p:sp>
        <p:nvSpPr>
          <p:cNvPr id="24" name="Shape 22"/>
          <p:cNvSpPr/>
          <p:nvPr/>
        </p:nvSpPr>
        <p:spPr>
          <a:xfrm>
            <a:off x="4938713" y="1369141"/>
            <a:ext cx="4205288" cy="1072371"/>
          </a:xfrm>
          <a:prstGeom prst="rect">
            <a:avLst/>
          </a:prstGeom>
          <a:solidFill>
            <a:srgbClr val="10122A"/>
          </a:solidFill>
          <a:ln/>
        </p:spPr>
      </p:sp>
      <p:sp>
        <p:nvSpPr>
          <p:cNvPr id="25" name="Shape 23"/>
          <p:cNvSpPr/>
          <p:nvPr/>
        </p:nvSpPr>
        <p:spPr>
          <a:xfrm>
            <a:off x="5224463" y="1506239"/>
            <a:ext cx="3633788" cy="609600"/>
          </a:xfrm>
          <a:prstGeom prst="rect">
            <a:avLst/>
          </a:prstGeom>
          <a:noFill/>
          <a:ln/>
        </p:spPr>
      </p:sp>
      <p:sp>
        <p:nvSpPr>
          <p:cNvPr id="26" name="Text 24"/>
          <p:cNvSpPr/>
          <p:nvPr/>
        </p:nvSpPr>
        <p:spPr>
          <a:xfrm>
            <a:off x="5224463" y="1506239"/>
            <a:ext cx="3633788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558"/>
              </a:lnSpc>
              <a:buNone/>
            </a:pPr>
            <a:r>
              <a:rPr lang="en-US" sz="3420" dirty="0">
                <a:solidFill>
                  <a:srgbClr val="FFFFFF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+40 %</a:t>
            </a:r>
            <a:endParaRPr lang="en-US" sz="3420" dirty="0"/>
          </a:p>
        </p:txBody>
      </p:sp>
      <p:sp>
        <p:nvSpPr>
          <p:cNvPr id="27" name="Shape 25"/>
          <p:cNvSpPr/>
          <p:nvPr/>
        </p:nvSpPr>
        <p:spPr>
          <a:xfrm>
            <a:off x="5224463" y="2115839"/>
            <a:ext cx="3633788" cy="188574"/>
          </a:xfrm>
          <a:prstGeom prst="rect">
            <a:avLst/>
          </a:prstGeom>
          <a:noFill/>
          <a:ln/>
        </p:spPr>
      </p:sp>
      <p:sp>
        <p:nvSpPr>
          <p:cNvPr id="28" name="Shape 26"/>
          <p:cNvSpPr/>
          <p:nvPr/>
        </p:nvSpPr>
        <p:spPr>
          <a:xfrm>
            <a:off x="5224463" y="2115839"/>
            <a:ext cx="3633788" cy="142875"/>
          </a:xfrm>
          <a:prstGeom prst="rect">
            <a:avLst/>
          </a:prstGeom>
          <a:noFill/>
          <a:ln/>
        </p:spPr>
      </p:sp>
      <p:sp>
        <p:nvSpPr>
          <p:cNvPr id="29" name="Text 27"/>
          <p:cNvSpPr/>
          <p:nvPr/>
        </p:nvSpPr>
        <p:spPr>
          <a:xfrm>
            <a:off x="5224463" y="2115839"/>
            <a:ext cx="36337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proyectos que el trimestre anterior</a:t>
            </a:r>
            <a:endParaRPr lang="en-US" sz="855" dirty="0"/>
          </a:p>
        </p:txBody>
      </p:sp>
      <p:sp>
        <p:nvSpPr>
          <p:cNvPr id="30" name="Shape 28"/>
          <p:cNvSpPr/>
          <p:nvPr/>
        </p:nvSpPr>
        <p:spPr>
          <a:xfrm>
            <a:off x="5181600" y="1362075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81600" y="2443163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81600" y="3543300"/>
            <a:ext cx="3714750" cy="0"/>
          </a:xfrm>
          <a:prstGeom prst="line">
            <a:avLst/>
          </a:prstGeom>
          <a:noFill/>
          <a:ln w="4524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0538" y="3676650"/>
            <a:ext cx="1952625" cy="638175"/>
          </a:xfrm>
          <a:prstGeom prst="rect">
            <a:avLst/>
          </a:prstGeom>
          <a:noFill/>
          <a:ln/>
        </p:spPr>
      </p:sp>
      <p:sp>
        <p:nvSpPr>
          <p:cNvPr id="34" name="Text 32"/>
          <p:cNvSpPr/>
          <p:nvPr/>
        </p:nvSpPr>
        <p:spPr>
          <a:xfrm>
            <a:off x="490538" y="3676650"/>
            <a:ext cx="1952625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10122A">
                    <a:alpha val="99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38 %</a:t>
            </a:r>
            <a:endParaRPr lang="en-US" sz="4988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43162" y="3543300"/>
            <a:ext cx="352425" cy="352425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4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38" name="Text 35"/>
          <p:cNvSpPr/>
          <p:nvPr/>
        </p:nvSpPr>
        <p:spPr>
          <a:xfrm>
            <a:off x="8315325" y="4801758"/>
            <a:ext cx="571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15</a:t>
            </a:r>
            <a:endParaRPr lang="en-US" sz="713" dirty="0"/>
          </a:p>
        </p:txBody>
      </p:sp>
      <p:sp>
        <p:nvSpPr>
          <p:cNvPr id="39" name="Text 36"/>
          <p:cNvSpPr/>
          <p:nvPr/>
        </p:nvSpPr>
        <p:spPr>
          <a:xfrm>
            <a:off x="766763" y="4801758"/>
            <a:ext cx="2100263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713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713" dirty="0"/>
          </a:p>
        </p:txBody>
      </p:sp>
      <p:sp>
        <p:nvSpPr>
          <p:cNvPr id="40" name="Text 37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8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09738" y="476250"/>
            <a:ext cx="5729288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Indicadores del trimestre</a:t>
            </a:r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pPr algn="l" indent="0" marL="0">
              <a:lnSpc>
                <a:spcPts val="3523"/>
              </a:lnSpc>
              <a:buNone/>
            </a:pPr>
            <a:r>
              <a:rPr lang="en-US" sz="3420" spc="-171" kern="0" dirty="0">
                <a:solidFill>
                  <a:srgbClr val="729BDD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endParaRPr lang="en-US" sz="3420" dirty="0"/>
          </a:p>
        </p:txBody>
      </p:sp>
      <p:sp>
        <p:nvSpPr>
          <p:cNvPr id="3" name="Text 1"/>
          <p:cNvSpPr/>
          <p:nvPr/>
        </p:nvSpPr>
        <p:spPr>
          <a:xfrm>
            <a:off x="2152650" y="1071563"/>
            <a:ext cx="48387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2"/>
              </a:lnSpc>
              <a:buNone/>
            </a:pPr>
            <a:r>
              <a:rPr lang="en-US" sz="855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Metas acordadas al inicio del trimestre y su estado al cierre.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1785938" y="1914525"/>
            <a:ext cx="184785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Indicador</a:t>
            </a:r>
            <a:endParaRPr lang="en-US" sz="1283" dirty="0"/>
          </a:p>
        </p:txBody>
      </p:sp>
      <p:sp>
        <p:nvSpPr>
          <p:cNvPr id="5" name="Text 3"/>
          <p:cNvSpPr/>
          <p:nvPr/>
        </p:nvSpPr>
        <p:spPr>
          <a:xfrm>
            <a:off x="1785938" y="23431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Horas en tareas internas</a:t>
            </a:r>
            <a:endParaRPr lang="en-US" sz="641" dirty="0"/>
          </a:p>
        </p:txBody>
      </p:sp>
      <p:sp>
        <p:nvSpPr>
          <p:cNvPr id="6" name="Text 4"/>
          <p:cNvSpPr/>
          <p:nvPr/>
        </p:nvSpPr>
        <p:spPr>
          <a:xfrm>
            <a:off x="1785938" y="262890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Tiempo de entrega</a:t>
            </a:r>
            <a:endParaRPr lang="en-US" sz="641" dirty="0"/>
          </a:p>
        </p:txBody>
      </p:sp>
      <p:sp>
        <p:nvSpPr>
          <p:cNvPr id="7" name="Text 5"/>
          <p:cNvSpPr/>
          <p:nvPr/>
        </p:nvSpPr>
        <p:spPr>
          <a:xfrm>
            <a:off x="1785938" y="29146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Informes a tiempo</a:t>
            </a:r>
            <a:endParaRPr lang="en-US" sz="641" dirty="0"/>
          </a:p>
        </p:txBody>
      </p:sp>
      <p:sp>
        <p:nvSpPr>
          <p:cNvPr id="8" name="Text 6"/>
          <p:cNvSpPr/>
          <p:nvPr/>
        </p:nvSpPr>
        <p:spPr>
          <a:xfrm>
            <a:off x="1785938" y="320040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Clientes con sesión mensual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1785938" y="3486150"/>
            <a:ext cx="183356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Retrabajo en entregables</a:t>
            </a:r>
            <a:endParaRPr lang="en-US" sz="641" dirty="0"/>
          </a:p>
        </p:txBody>
      </p:sp>
      <p:sp>
        <p:nvSpPr>
          <p:cNvPr id="10" name="Text 8"/>
          <p:cNvSpPr/>
          <p:nvPr/>
        </p:nvSpPr>
        <p:spPr>
          <a:xfrm>
            <a:off x="3638550" y="2343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−30 %</a:t>
            </a:r>
            <a:endParaRPr lang="en-US" sz="641" dirty="0"/>
          </a:p>
        </p:txBody>
      </p:sp>
      <p:sp>
        <p:nvSpPr>
          <p:cNvPr id="11" name="Text 9"/>
          <p:cNvSpPr/>
          <p:nvPr/>
        </p:nvSpPr>
        <p:spPr>
          <a:xfrm>
            <a:off x="3638550" y="26289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−25 %</a:t>
            </a:r>
            <a:endParaRPr lang="en-US" sz="641" dirty="0"/>
          </a:p>
        </p:txBody>
      </p:sp>
      <p:sp>
        <p:nvSpPr>
          <p:cNvPr id="12" name="Text 10"/>
          <p:cNvSpPr/>
          <p:nvPr/>
        </p:nvSpPr>
        <p:spPr>
          <a:xfrm>
            <a:off x="3638550" y="29146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95 %</a:t>
            </a:r>
            <a:endParaRPr lang="en-US" sz="641" dirty="0"/>
          </a:p>
        </p:txBody>
      </p:sp>
      <p:sp>
        <p:nvSpPr>
          <p:cNvPr id="13" name="Text 11"/>
          <p:cNvSpPr/>
          <p:nvPr/>
        </p:nvSpPr>
        <p:spPr>
          <a:xfrm>
            <a:off x="3638550" y="32004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80 %</a:t>
            </a:r>
            <a:endParaRPr lang="en-US" sz="641" dirty="0"/>
          </a:p>
        </p:txBody>
      </p:sp>
      <p:sp>
        <p:nvSpPr>
          <p:cNvPr id="14" name="Text 12"/>
          <p:cNvSpPr/>
          <p:nvPr/>
        </p:nvSpPr>
        <p:spPr>
          <a:xfrm>
            <a:off x="3638550" y="3486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−40 %</a:t>
            </a:r>
            <a:endParaRPr lang="en-US" sz="641" dirty="0"/>
          </a:p>
        </p:txBody>
      </p:sp>
      <p:sp>
        <p:nvSpPr>
          <p:cNvPr id="15" name="Text 13"/>
          <p:cNvSpPr/>
          <p:nvPr/>
        </p:nvSpPr>
        <p:spPr>
          <a:xfrm>
            <a:off x="4876800" y="2343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−22 %</a:t>
            </a:r>
            <a:endParaRPr lang="en-US" sz="641" dirty="0"/>
          </a:p>
        </p:txBody>
      </p:sp>
      <p:sp>
        <p:nvSpPr>
          <p:cNvPr id="16" name="Text 14"/>
          <p:cNvSpPr/>
          <p:nvPr/>
        </p:nvSpPr>
        <p:spPr>
          <a:xfrm>
            <a:off x="4876800" y="26289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−28 %</a:t>
            </a:r>
            <a:endParaRPr lang="en-US" sz="641" dirty="0"/>
          </a:p>
        </p:txBody>
      </p:sp>
      <p:sp>
        <p:nvSpPr>
          <p:cNvPr id="17" name="Text 15"/>
          <p:cNvSpPr/>
          <p:nvPr/>
        </p:nvSpPr>
        <p:spPr>
          <a:xfrm>
            <a:off x="4876800" y="29146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91 %</a:t>
            </a:r>
            <a:endParaRPr lang="en-US" sz="641" dirty="0"/>
          </a:p>
        </p:txBody>
      </p:sp>
      <p:sp>
        <p:nvSpPr>
          <p:cNvPr id="18" name="Text 16"/>
          <p:cNvSpPr/>
          <p:nvPr/>
        </p:nvSpPr>
        <p:spPr>
          <a:xfrm>
            <a:off x="4876800" y="320040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64 %</a:t>
            </a:r>
            <a:endParaRPr lang="en-US" sz="641" dirty="0"/>
          </a:p>
        </p:txBody>
      </p:sp>
      <p:sp>
        <p:nvSpPr>
          <p:cNvPr id="19" name="Text 17"/>
          <p:cNvSpPr/>
          <p:nvPr/>
        </p:nvSpPr>
        <p:spPr>
          <a:xfrm>
            <a:off x="4876800" y="3486150"/>
            <a:ext cx="12096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−42 %</a:t>
            </a:r>
            <a:endParaRPr lang="en-US" sz="641" dirty="0"/>
          </a:p>
        </p:txBody>
      </p:sp>
      <p:sp>
        <p:nvSpPr>
          <p:cNvPr id="20" name="Text 18"/>
          <p:cNvSpPr/>
          <p:nvPr/>
        </p:nvSpPr>
        <p:spPr>
          <a:xfrm>
            <a:off x="6534150" y="23431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riesgo</a:t>
            </a:r>
            <a:endParaRPr lang="en-US" sz="641" dirty="0"/>
          </a:p>
        </p:txBody>
      </p:sp>
      <p:sp>
        <p:nvSpPr>
          <p:cNvPr id="21" name="Text 19"/>
          <p:cNvSpPr/>
          <p:nvPr/>
        </p:nvSpPr>
        <p:spPr>
          <a:xfrm>
            <a:off x="6534150" y="262890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meta</a:t>
            </a:r>
            <a:endParaRPr lang="en-US" sz="641" dirty="0"/>
          </a:p>
        </p:txBody>
      </p:sp>
      <p:sp>
        <p:nvSpPr>
          <p:cNvPr id="22" name="Text 20"/>
          <p:cNvSpPr/>
          <p:nvPr/>
        </p:nvSpPr>
        <p:spPr>
          <a:xfrm>
            <a:off x="6534150" y="29146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riesgo</a:t>
            </a:r>
            <a:endParaRPr lang="en-US" sz="641" dirty="0"/>
          </a:p>
        </p:txBody>
      </p:sp>
      <p:sp>
        <p:nvSpPr>
          <p:cNvPr id="23" name="Text 21"/>
          <p:cNvSpPr/>
          <p:nvPr/>
        </p:nvSpPr>
        <p:spPr>
          <a:xfrm>
            <a:off x="6534150" y="320040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riesgo</a:t>
            </a:r>
            <a:endParaRPr lang="en-US" sz="641" dirty="0"/>
          </a:p>
        </p:txBody>
      </p:sp>
      <p:sp>
        <p:nvSpPr>
          <p:cNvPr id="24" name="Text 22"/>
          <p:cNvSpPr/>
          <p:nvPr/>
        </p:nvSpPr>
        <p:spPr>
          <a:xfrm>
            <a:off x="6534150" y="3486150"/>
            <a:ext cx="752475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 meta</a:t>
            </a:r>
            <a:endParaRPr lang="en-US" sz="641" dirty="0"/>
          </a:p>
        </p:txBody>
      </p:sp>
      <p:sp>
        <p:nvSpPr>
          <p:cNvPr id="25" name="Text 23"/>
          <p:cNvSpPr/>
          <p:nvPr/>
        </p:nvSpPr>
        <p:spPr>
          <a:xfrm>
            <a:off x="3619500" y="1914525"/>
            <a:ext cx="124777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Meta</a:t>
            </a:r>
            <a:endParaRPr lang="en-US" sz="1283" dirty="0"/>
          </a:p>
        </p:txBody>
      </p:sp>
      <p:sp>
        <p:nvSpPr>
          <p:cNvPr id="26" name="Text 24"/>
          <p:cNvSpPr/>
          <p:nvPr/>
        </p:nvSpPr>
        <p:spPr>
          <a:xfrm>
            <a:off x="4848225" y="1914525"/>
            <a:ext cx="12620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Actual</a:t>
            </a:r>
            <a:endParaRPr lang="en-US" sz="1283" dirty="0"/>
          </a:p>
        </p:txBody>
      </p:sp>
      <p:sp>
        <p:nvSpPr>
          <p:cNvPr id="27" name="Text 25"/>
          <p:cNvSpPr/>
          <p:nvPr/>
        </p:nvSpPr>
        <p:spPr>
          <a:xfrm>
            <a:off x="6096000" y="1914525"/>
            <a:ext cx="12668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7"/>
              </a:lnSpc>
              <a:buNone/>
            </a:pPr>
            <a:r>
              <a:rPr lang="en-US" sz="1283" spc="-64" kern="0" dirty="0">
                <a:solidFill>
                  <a:srgbClr val="10122A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Estado</a:t>
            </a:r>
            <a:endParaRPr lang="en-US" sz="1283" dirty="0"/>
          </a:p>
        </p:txBody>
      </p:sp>
      <p:sp>
        <p:nvSpPr>
          <p:cNvPr id="28" name="Shape 26"/>
          <p:cNvSpPr/>
          <p:nvPr/>
        </p:nvSpPr>
        <p:spPr>
          <a:xfrm rot="5400000">
            <a:off x="2619375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3848100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5095875" y="2838450"/>
            <a:ext cx="1990725" cy="0"/>
          </a:xfrm>
          <a:prstGeom prst="line">
            <a:avLst/>
          </a:prstGeom>
          <a:noFill/>
          <a:ln w="18097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0">
            <a:off x="1785938" y="22669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85938" y="25527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785938" y="28384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5938" y="31242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785938" y="340995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785938" y="3695700"/>
            <a:ext cx="5576888" cy="0"/>
          </a:xfrm>
          <a:prstGeom prst="line">
            <a:avLst/>
          </a:prstGeom>
          <a:noFill/>
          <a:ln w="4524">
            <a:solidFill>
              <a:srgbClr val="729BDD">
                <a:alpha val="3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7463" y="236220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67463" y="2647950"/>
            <a:ext cx="100013" cy="100013"/>
          </a:xfrm>
          <a:prstGeom prst="rect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367463" y="293370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67463" y="3219450"/>
            <a:ext cx="100013" cy="100013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367463" y="3505200"/>
            <a:ext cx="100013" cy="100013"/>
          </a:xfrm>
          <a:prstGeom prst="rect">
            <a:avLst/>
          </a:prstGeom>
          <a:solidFill>
            <a:srgbClr val="729BD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539163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8582025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  <p:sp>
        <p:nvSpPr>
          <p:cNvPr id="44" name="Text 42"/>
          <p:cNvSpPr/>
          <p:nvPr/>
        </p:nvSpPr>
        <p:spPr>
          <a:xfrm>
            <a:off x="8320088" y="4811283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</a:t>
            </a:r>
            <a:endParaRPr lang="en-US" sz="641" dirty="0"/>
          </a:p>
        </p:txBody>
      </p:sp>
      <p:sp>
        <p:nvSpPr>
          <p:cNvPr id="45" name="Text 43"/>
          <p:cNvSpPr/>
          <p:nvPr/>
        </p:nvSpPr>
        <p:spPr>
          <a:xfrm>
            <a:off x="766763" y="4811283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A2A2A2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46" name="Text 44"/>
          <p:cNvSpPr/>
          <p:nvPr/>
        </p:nvSpPr>
        <p:spPr>
          <a:xfrm>
            <a:off x="438150" y="4782708"/>
            <a:ext cx="166688" cy="166688"/>
          </a:xfrm>
          <a:prstGeom prst="rect">
            <a:avLst/>
          </a:prstGeom>
          <a:solidFill>
            <a:srgbClr val="CE63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81012" y="4825571"/>
            <a:ext cx="83344" cy="83344"/>
          </a:xfrm>
          <a:prstGeom prst="roundRect">
            <a:avLst/>
          </a:prstGeom>
          <a:solidFill>
            <a:srgbClr val="F4F4F4"/>
          </a:solidFill>
          <a:ln/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5816" t="0" b="322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14818" t="0" b="9687"/>
          <a:stretch/>
        </p:blipFill>
        <p:spPr>
          <a:xfrm>
            <a:off x="0" y="0"/>
            <a:ext cx="9144000" cy="5139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6250" y="476250"/>
            <a:ext cx="4891088" cy="63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88"/>
              </a:lnSpc>
              <a:buNone/>
            </a:pPr>
            <a:r>
              <a:rPr lang="en-US" sz="4988" spc="-249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Preguntas</a:t>
            </a:r>
            <a:endParaRPr lang="en-US" sz="4988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-2" t="0" b="0"/>
          <a:stretch/>
        </p:blipFill>
        <p:spPr>
          <a:xfrm>
            <a:off x="514350" y="1309688"/>
            <a:ext cx="120207" cy="23908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rcRect l="0" r="-2" t="0" b="0"/>
          <a:stretch/>
        </p:blipFill>
        <p:spPr>
          <a:xfrm>
            <a:off x="2190750" y="1309688"/>
            <a:ext cx="120207" cy="23908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rcRect l="0" r="-2" t="0" b="0"/>
          <a:stretch/>
        </p:blipFill>
        <p:spPr>
          <a:xfrm>
            <a:off x="1352550" y="1309688"/>
            <a:ext cx="120207" cy="239085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rcRect l="0" r="-2" t="0" b="0"/>
          <a:stretch/>
        </p:blipFill>
        <p:spPr>
          <a:xfrm>
            <a:off x="3028950" y="1309688"/>
            <a:ext cx="120207" cy="239085"/>
          </a:xfrm>
          <a:prstGeom prst="rect">
            <a:avLst/>
          </a:prstGeom>
        </p:spPr>
      </p:pic>
      <p:pic>
        <p:nvPicPr>
          <p:cNvPr id="9" name="Image 6" descr="preencoded.png">    </p:cNvPr>
          <p:cNvPicPr>
            <a:picLocks noChangeAspect="1"/>
          </p:cNvPicPr>
          <p:nvPr/>
        </p:nvPicPr>
        <p:blipFill>
          <a:blip r:embed="rId7"/>
          <a:srcRect l="0" r="-2" t="0" b="0"/>
          <a:stretch/>
        </p:blipFill>
        <p:spPr>
          <a:xfrm>
            <a:off x="723900" y="1309688"/>
            <a:ext cx="120207" cy="239085"/>
          </a:xfrm>
          <a:prstGeom prst="rect">
            <a:avLst/>
          </a:prstGeom>
        </p:spPr>
      </p:pic>
      <p:pic>
        <p:nvPicPr>
          <p:cNvPr id="10" name="Image 7" descr="preencoded.png">    </p:cNvPr>
          <p:cNvPicPr>
            <a:picLocks noChangeAspect="1"/>
          </p:cNvPicPr>
          <p:nvPr/>
        </p:nvPicPr>
        <p:blipFill>
          <a:blip r:embed="rId8"/>
          <a:srcRect l="0" r="-2" t="0" b="0"/>
          <a:stretch/>
        </p:blipFill>
        <p:spPr>
          <a:xfrm>
            <a:off x="2400300" y="1309688"/>
            <a:ext cx="120207" cy="239085"/>
          </a:xfrm>
          <a:prstGeom prst="rect">
            <a:avLst/>
          </a:prstGeom>
        </p:spPr>
      </p:pic>
      <p:pic>
        <p:nvPicPr>
          <p:cNvPr id="11" name="Image 8" descr="preencoded.png">    </p:cNvPr>
          <p:cNvPicPr>
            <a:picLocks noChangeAspect="1"/>
          </p:cNvPicPr>
          <p:nvPr/>
        </p:nvPicPr>
        <p:blipFill>
          <a:blip r:embed="rId9"/>
          <a:srcRect l="0" r="-2" t="0" b="0"/>
          <a:stretch/>
        </p:blipFill>
        <p:spPr>
          <a:xfrm>
            <a:off x="1562100" y="1309688"/>
            <a:ext cx="120207" cy="239085"/>
          </a:xfrm>
          <a:prstGeom prst="rect">
            <a:avLst/>
          </a:prstGeom>
        </p:spPr>
      </p:pic>
      <p:pic>
        <p:nvPicPr>
          <p:cNvPr id="12" name="Image 9" descr="preencoded.png">    </p:cNvPr>
          <p:cNvPicPr>
            <a:picLocks noChangeAspect="1"/>
          </p:cNvPicPr>
          <p:nvPr/>
        </p:nvPicPr>
        <p:blipFill>
          <a:blip r:embed="rId10"/>
          <a:srcRect l="0" r="-2" t="0" b="0"/>
          <a:stretch/>
        </p:blipFill>
        <p:spPr>
          <a:xfrm>
            <a:off x="3238500" y="1309688"/>
            <a:ext cx="120207" cy="239085"/>
          </a:xfrm>
          <a:prstGeom prst="rect">
            <a:avLst/>
          </a:prstGeom>
        </p:spPr>
      </p:pic>
      <p:pic>
        <p:nvPicPr>
          <p:cNvPr id="13" name="Image 10" descr="preencoded.png">    </p:cNvPr>
          <p:cNvPicPr>
            <a:picLocks noChangeAspect="1"/>
          </p:cNvPicPr>
          <p:nvPr/>
        </p:nvPicPr>
        <p:blipFill>
          <a:blip r:embed="rId11"/>
          <a:srcRect l="0" r="-2" t="0" b="0"/>
          <a:stretch/>
        </p:blipFill>
        <p:spPr>
          <a:xfrm>
            <a:off x="933450" y="1309688"/>
            <a:ext cx="120207" cy="239085"/>
          </a:xfrm>
          <a:prstGeom prst="rect">
            <a:avLst/>
          </a:prstGeom>
        </p:spPr>
      </p:pic>
      <p:pic>
        <p:nvPicPr>
          <p:cNvPr id="14" name="Image 11" descr="preencoded.png">    </p:cNvPr>
          <p:cNvPicPr>
            <a:picLocks noChangeAspect="1"/>
          </p:cNvPicPr>
          <p:nvPr/>
        </p:nvPicPr>
        <p:blipFill>
          <a:blip r:embed="rId12"/>
          <a:srcRect l="0" r="-2" t="0" b="0"/>
          <a:stretch/>
        </p:blipFill>
        <p:spPr>
          <a:xfrm>
            <a:off x="2609850" y="1309688"/>
            <a:ext cx="120207" cy="239085"/>
          </a:xfrm>
          <a:prstGeom prst="rect">
            <a:avLst/>
          </a:prstGeom>
        </p:spPr>
      </p:pic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rcRect l="0" r="-2" t="0" b="0"/>
          <a:stretch/>
        </p:blipFill>
        <p:spPr>
          <a:xfrm>
            <a:off x="1771650" y="1309688"/>
            <a:ext cx="120207" cy="239085"/>
          </a:xfrm>
          <a:prstGeom prst="rect">
            <a:avLst/>
          </a:prstGeom>
        </p:spPr>
      </p:pic>
      <p:pic>
        <p:nvPicPr>
          <p:cNvPr id="16" name="Image 13" descr="preencoded.png">    </p:cNvPr>
          <p:cNvPicPr>
            <a:picLocks noChangeAspect="1"/>
          </p:cNvPicPr>
          <p:nvPr/>
        </p:nvPicPr>
        <p:blipFill>
          <a:blip r:embed="rId14"/>
          <a:srcRect l="0" r="-2" t="0" b="0"/>
          <a:stretch/>
        </p:blipFill>
        <p:spPr>
          <a:xfrm>
            <a:off x="3448050" y="1309688"/>
            <a:ext cx="120207" cy="239085"/>
          </a:xfrm>
          <a:prstGeom prst="rect">
            <a:avLst/>
          </a:prstGeom>
        </p:spPr>
      </p:pic>
      <p:pic>
        <p:nvPicPr>
          <p:cNvPr id="17" name="Image 14" descr="preencoded.png">    </p:cNvPr>
          <p:cNvPicPr>
            <a:picLocks noChangeAspect="1"/>
          </p:cNvPicPr>
          <p:nvPr/>
        </p:nvPicPr>
        <p:blipFill>
          <a:blip r:embed="rId15"/>
          <a:srcRect l="0" r="-2" t="0" b="0"/>
          <a:stretch/>
        </p:blipFill>
        <p:spPr>
          <a:xfrm>
            <a:off x="3867150" y="1309688"/>
            <a:ext cx="120207" cy="239085"/>
          </a:xfrm>
          <a:prstGeom prst="rect">
            <a:avLst/>
          </a:prstGeom>
        </p:spPr>
      </p:pic>
      <p:pic>
        <p:nvPicPr>
          <p:cNvPr id="18" name="Image 15" descr="preencoded.png">    </p:cNvPr>
          <p:cNvPicPr>
            <a:picLocks noChangeAspect="1"/>
          </p:cNvPicPr>
          <p:nvPr/>
        </p:nvPicPr>
        <p:blipFill>
          <a:blip r:embed="rId16"/>
          <a:srcRect l="0" r="-2" t="0" b="0"/>
          <a:stretch/>
        </p:blipFill>
        <p:spPr>
          <a:xfrm>
            <a:off x="1143000" y="1309688"/>
            <a:ext cx="120207" cy="239085"/>
          </a:xfrm>
          <a:prstGeom prst="rect">
            <a:avLst/>
          </a:prstGeom>
        </p:spPr>
      </p:pic>
      <p:pic>
        <p:nvPicPr>
          <p:cNvPr id="19" name="Image 16" descr="preencoded.png">    </p:cNvPr>
          <p:cNvPicPr>
            <a:picLocks noChangeAspect="1"/>
          </p:cNvPicPr>
          <p:nvPr/>
        </p:nvPicPr>
        <p:blipFill>
          <a:blip r:embed="rId17"/>
          <a:srcRect l="0" r="-2" t="0" b="0"/>
          <a:stretch/>
        </p:blipFill>
        <p:spPr>
          <a:xfrm>
            <a:off x="2819400" y="1309688"/>
            <a:ext cx="120207" cy="239085"/>
          </a:xfrm>
          <a:prstGeom prst="rect">
            <a:avLst/>
          </a:prstGeom>
        </p:spPr>
      </p:pic>
      <p:pic>
        <p:nvPicPr>
          <p:cNvPr id="20" name="Image 17" descr="preencoded.png">    </p:cNvPr>
          <p:cNvPicPr>
            <a:picLocks noChangeAspect="1"/>
          </p:cNvPicPr>
          <p:nvPr/>
        </p:nvPicPr>
        <p:blipFill>
          <a:blip r:embed="rId18"/>
          <a:srcRect l="0" r="-2" t="0" b="0"/>
          <a:stretch/>
        </p:blipFill>
        <p:spPr>
          <a:xfrm>
            <a:off x="1981200" y="1309688"/>
            <a:ext cx="120207" cy="239085"/>
          </a:xfrm>
          <a:prstGeom prst="rect">
            <a:avLst/>
          </a:prstGeom>
        </p:spPr>
      </p:pic>
      <p:pic>
        <p:nvPicPr>
          <p:cNvPr id="21" name="Image 18" descr="preencoded.png">    </p:cNvPr>
          <p:cNvPicPr>
            <a:picLocks noChangeAspect="1"/>
          </p:cNvPicPr>
          <p:nvPr/>
        </p:nvPicPr>
        <p:blipFill>
          <a:blip r:embed="rId19"/>
          <a:srcRect l="0" r="-2" t="0" b="0"/>
          <a:stretch/>
        </p:blipFill>
        <p:spPr>
          <a:xfrm>
            <a:off x="3657600" y="1309688"/>
            <a:ext cx="120207" cy="239085"/>
          </a:xfrm>
          <a:prstGeom prst="rect">
            <a:avLst/>
          </a:prstGeom>
        </p:spPr>
      </p:pic>
      <p:sp>
        <p:nvSpPr>
          <p:cNvPr id="22" name="Text 1"/>
          <p:cNvSpPr/>
          <p:nvPr/>
        </p:nvSpPr>
        <p:spPr>
          <a:xfrm>
            <a:off x="8539163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"/>
          <p:cNvSpPr/>
          <p:nvPr/>
        </p:nvSpPr>
        <p:spPr>
          <a:xfrm>
            <a:off x="8582025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  <p:sp>
        <p:nvSpPr>
          <p:cNvPr id="24" name="Text 3"/>
          <p:cNvSpPr/>
          <p:nvPr/>
        </p:nvSpPr>
        <p:spPr>
          <a:xfrm>
            <a:off x="8320088" y="4829175"/>
            <a:ext cx="52388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</a:t>
            </a:r>
            <a:endParaRPr lang="en-US" sz="641" dirty="0"/>
          </a:p>
        </p:txBody>
      </p:sp>
      <p:sp>
        <p:nvSpPr>
          <p:cNvPr id="25" name="Text 4"/>
          <p:cNvSpPr/>
          <p:nvPr/>
        </p:nvSpPr>
        <p:spPr>
          <a:xfrm>
            <a:off x="766763" y="4829175"/>
            <a:ext cx="1890713" cy="119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898"/>
              </a:lnSpc>
              <a:buNone/>
            </a:pPr>
            <a:r>
              <a:rPr lang="en-US" sz="641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EQUIPO KEYONS      •      USO INTERNO</a:t>
            </a:r>
            <a:endParaRPr lang="en-US" sz="641" dirty="0"/>
          </a:p>
        </p:txBody>
      </p:sp>
      <p:sp>
        <p:nvSpPr>
          <p:cNvPr id="26" name="Text 5"/>
          <p:cNvSpPr/>
          <p:nvPr/>
        </p:nvSpPr>
        <p:spPr>
          <a:xfrm>
            <a:off x="438150" y="4800600"/>
            <a:ext cx="166688" cy="166688"/>
          </a:xfrm>
          <a:prstGeom prst="rect">
            <a:avLst/>
          </a:prstGeom>
          <a:solidFill>
            <a:srgbClr val="E99D9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6"/>
          <p:cNvSpPr/>
          <p:nvPr/>
        </p:nvSpPr>
        <p:spPr>
          <a:xfrm>
            <a:off x="481012" y="4843463"/>
            <a:ext cx="83344" cy="83344"/>
          </a:xfrm>
          <a:prstGeom prst="roundRect">
            <a:avLst/>
          </a:prstGeom>
          <a:solidFill>
            <a:srgbClr val="10122A"/>
          </a:solidFill>
          <a:ln/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433888"/>
            <a:ext cx="53816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E99D9E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PRÓXIMOS PASOS</a:t>
            </a:r>
            <a:endParaRPr lang="en-US" sz="713" dirty="0"/>
          </a:p>
        </p:txBody>
      </p:sp>
      <p:sp>
        <p:nvSpPr>
          <p:cNvPr id="3" name="Text 1"/>
          <p:cNvSpPr/>
          <p:nvPr/>
        </p:nvSpPr>
        <p:spPr>
          <a:xfrm>
            <a:off x="476250" y="4576763"/>
            <a:ext cx="1333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PRÓXIMA REVISIÓN EN 90 DÍAS</a:t>
            </a:r>
            <a:endParaRPr lang="en-US" sz="713" dirty="0"/>
          </a:p>
        </p:txBody>
      </p:sp>
      <p:sp>
        <p:nvSpPr>
          <p:cNvPr id="4" name="Text 2"/>
          <p:cNvSpPr/>
          <p:nvPr/>
        </p:nvSpPr>
        <p:spPr>
          <a:xfrm>
            <a:off x="8120063" y="4433888"/>
            <a:ext cx="5476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HOLA@KEYONS.AI</a:t>
            </a:r>
            <a:endParaRPr lang="en-US" sz="713" dirty="0"/>
          </a:p>
        </p:txBody>
      </p:sp>
      <p:sp>
        <p:nvSpPr>
          <p:cNvPr id="5" name="Text 3"/>
          <p:cNvSpPr/>
          <p:nvPr/>
        </p:nvSpPr>
        <p:spPr>
          <a:xfrm>
            <a:off x="7205663" y="4576763"/>
            <a:ext cx="1462088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lnSpc>
                <a:spcPts val="1069"/>
              </a:lnSpc>
              <a:buNone/>
            </a:pPr>
            <a:r>
              <a:rPr lang="en-US" sz="713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KEYONS.AI</a:t>
            </a:r>
            <a:pPr algn="r" indent="0" marL="0">
              <a:lnSpc>
                <a:spcPts val="1069"/>
              </a:lnSpc>
              <a:buNone/>
            </a:pPr>
            <a:r>
              <a:rPr lang="en-US" sz="713" b="1" spc="-16" kern="0" dirty="0">
                <a:solidFill>
                  <a:srgbClr val="F4F4F4">
                    <a:alpha val="99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/>
            </a:r>
            <a:endParaRPr lang="en-US" sz="713" dirty="0"/>
          </a:p>
        </p:txBody>
      </p:sp>
      <p:sp>
        <p:nvSpPr>
          <p:cNvPr id="6" name="Text 4"/>
          <p:cNvSpPr/>
          <p:nvPr/>
        </p:nvSpPr>
        <p:spPr>
          <a:xfrm>
            <a:off x="476250" y="476250"/>
            <a:ext cx="4891088" cy="2443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>Gracias</a:t>
            </a:r>
            <a:endParaRPr lang="en-US" sz="6769" dirty="0"/>
          </a:p>
          <a:p>
            <a:pPr algn="l" indent="0" marL="0">
              <a:lnSpc>
                <a:spcPts val="6092"/>
              </a:lnSpc>
              <a:buNone/>
            </a:pPr>
            <a:r>
              <a:rPr lang="en-US" sz="6769" spc="-338" kern="0" dirty="0">
                <a:solidFill>
                  <a:srgbClr val="F4F4F4">
                    <a:alpha val="99000"/>
                  </a:srgbClr>
                </a:solidFill>
                <a:latin typeface="TASA Orbiter" pitchFamily="34" charset="0"/>
                <a:ea typeface="TASA Orbiter" pitchFamily="34" charset="-122"/>
                <a:cs typeface="TASA Orbiter" pitchFamily="34" charset="-120"/>
              </a:rPr>
              <a:t/>
            </a:r>
            <a:endParaRPr lang="en-US" sz="6769" dirty="0"/>
          </a:p>
        </p:txBody>
      </p:sp>
      <p:sp>
        <p:nvSpPr>
          <p:cNvPr id="7" name="Shape 5"/>
          <p:cNvSpPr/>
          <p:nvPr/>
        </p:nvSpPr>
        <p:spPr>
          <a:xfrm>
            <a:off x="547688" y="3162300"/>
            <a:ext cx="933450" cy="0"/>
          </a:xfrm>
          <a:prstGeom prst="line">
            <a:avLst/>
          </a:prstGeom>
          <a:noFill/>
          <a:ln w="36195">
            <a:solidFill>
              <a:srgbClr val="E99D9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15300" y="476250"/>
            <a:ext cx="482175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2026-10-09T02:30:58Z</dcterms:created>
  <dcterms:modified xsi:type="dcterms:W3CDTF">2026-10-09T02:30:58Z</dcterms:modified>
</cp:coreProperties>
</file>