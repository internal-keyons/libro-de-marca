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62" r:id="rId8"/>
    <p:sldId id="258" r:id="rId4"/>
    <p:sldId id="260" r:id="rId6"/>
    <p:sldId id="261" r:id="rId7"/>
    <p:sldId id="263" r:id="rId9"/>
    <p:sldId id="259" r:id="rId5"/>
    <p:sldId id="271" r:id="rId17"/>
    <p:sldId id="265" r:id="rId11"/>
    <p:sldId id="266" r:id="rId12"/>
    <p:sldId id="268" r:id="rId14"/>
    <p:sldId id="274" r:id="rId20"/>
    <p:sldId id="279" r:id="rId25"/>
    <p:sldId id="281" r:id="rId27"/>
    <p:sldId id="283" r:id="rId29"/>
    <p:sldId id="267" r:id="rId13"/>
    <p:sldId id="285" r:id="rId31"/>
    <p:sldId id="288" r:id="rId43"/>
  </p:sldIdLst>
  <p:notesMasterIdLst>
    <p:notesMasterId r:id="rId34"/>
  </p:notesMasterIdLst>
  <p:sldSz cx="9144000" cy="5143500"/>
  <p:notesSz cx="5143500" cy="9144000"/>
  <p:embeddedFontLst>
    <p:embeddedFont>
      <p:font typeface="Plus Jakarta Sans"/>
      <p:regular r:id="rId39"/>
    </p:embeddedFont>
    <p:embeddedFont>
      <p:font typeface="TASA Orbiter"/>
      <p:regular r:id="rId40"/>
    </p:embeddedFont>
    <p:embeddedFont>
      <p:font typeface="Inter"/>
      <p:regular r:id="rId41"/>
    </p:embeddedFont>
    <p:embeddedFont>
      <p:font typeface="Space Grotesk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rId39.fntdata"/><Relationship Id="rId40" Type="http://schemas.openxmlformats.org/officeDocument/2006/relationships/font" Target="fonts/rId40.fntdata"/><Relationship Id="rId41" Type="http://schemas.openxmlformats.org/officeDocument/2006/relationships/font" Target="fonts/rId41.fntdata"/><Relationship Id="rId42" Type="http://schemas.openxmlformats.org/officeDocument/2006/relationships/font" Target="fonts/rId42.fntdata"/>  <Relationship Id="rId43" Type="http://schemas.openxmlformats.org/officeDocument/2006/relationships/slide" Target="slides/slide3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PROPUESTA · 2026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NOMBRE DEL CLIENTE S.A.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DÍA DE MES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PRESENTA: NOMBRE APELLIDO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Agentes para su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operación</a:t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2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7762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7762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762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Contexto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0147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1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288" y="1581150"/>
            <a:ext cx="3633788" cy="4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15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7715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escuchamos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42529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11" name="Shape 8"/>
          <p:cNvSpPr/>
          <p:nvPr/>
        </p:nvSpPr>
        <p:spPr>
          <a:xfrm>
            <a:off x="7762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7762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reto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42529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855" dirty="0"/>
          </a:p>
        </p:txBody>
      </p:sp>
      <p:sp>
        <p:nvSpPr>
          <p:cNvPr id="14" name="Shape 11"/>
          <p:cNvSpPr/>
          <p:nvPr/>
        </p:nvSpPr>
        <p:spPr>
          <a:xfrm>
            <a:off x="7762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7762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7762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Propuesta</a:t>
            </a:r>
            <a:endParaRPr lang="en-US" sz="1283" dirty="0"/>
          </a:p>
        </p:txBody>
      </p:sp>
      <p:sp>
        <p:nvSpPr>
          <p:cNvPr id="17" name="Text 14"/>
          <p:cNvSpPr/>
          <p:nvPr/>
        </p:nvSpPr>
        <p:spPr>
          <a:xfrm>
            <a:off x="39814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2</a:t>
            </a:r>
            <a:endParaRPr lang="en-US" sz="1283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6288" y="2590800"/>
            <a:ext cx="3633788" cy="476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62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7762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proponemos</a:t>
            </a:r>
            <a:endParaRPr lang="en-US" sz="855" dirty="0"/>
          </a:p>
        </p:txBody>
      </p:sp>
      <p:sp>
        <p:nvSpPr>
          <p:cNvPr id="21" name="Text 17"/>
          <p:cNvSpPr/>
          <p:nvPr/>
        </p:nvSpPr>
        <p:spPr>
          <a:xfrm>
            <a:off x="4262438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855" dirty="0"/>
          </a:p>
        </p:txBody>
      </p:sp>
      <p:sp>
        <p:nvSpPr>
          <p:cNvPr id="22" name="Shape 18"/>
          <p:cNvSpPr/>
          <p:nvPr/>
        </p:nvSpPr>
        <p:spPr>
          <a:xfrm>
            <a:off x="7762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19"/>
          <p:cNvSpPr/>
          <p:nvPr/>
        </p:nvSpPr>
        <p:spPr>
          <a:xfrm>
            <a:off x="7762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funciona</a:t>
            </a:r>
            <a:endParaRPr lang="en-US" sz="855" dirty="0"/>
          </a:p>
        </p:txBody>
      </p:sp>
      <p:sp>
        <p:nvSpPr>
          <p:cNvPr id="24" name="Text 20"/>
          <p:cNvSpPr/>
          <p:nvPr/>
        </p:nvSpPr>
        <p:spPr>
          <a:xfrm>
            <a:off x="42576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855" dirty="0"/>
          </a:p>
        </p:txBody>
      </p:sp>
      <p:sp>
        <p:nvSpPr>
          <p:cNvPr id="25" name="Shape 21"/>
          <p:cNvSpPr/>
          <p:nvPr/>
        </p:nvSpPr>
        <p:spPr>
          <a:xfrm>
            <a:off x="7762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26" name="Shape 22"/>
          <p:cNvSpPr/>
          <p:nvPr/>
        </p:nvSpPr>
        <p:spPr>
          <a:xfrm>
            <a:off x="7762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27" name="Text 23"/>
          <p:cNvSpPr/>
          <p:nvPr/>
        </p:nvSpPr>
        <p:spPr>
          <a:xfrm>
            <a:off x="7762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Plan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39814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3</a:t>
            </a:r>
            <a:endParaRPr lang="en-US" sz="1283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288" y="3586163"/>
            <a:ext cx="3633788" cy="476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762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1" name="Text 26"/>
          <p:cNvSpPr/>
          <p:nvPr/>
        </p:nvSpPr>
        <p:spPr>
          <a:xfrm>
            <a:off x="7762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Resultados esperados</a:t>
            </a:r>
            <a:endParaRPr lang="en-US" sz="855" dirty="0"/>
          </a:p>
        </p:txBody>
      </p:sp>
      <p:sp>
        <p:nvSpPr>
          <p:cNvPr id="32" name="Text 27"/>
          <p:cNvSpPr/>
          <p:nvPr/>
        </p:nvSpPr>
        <p:spPr>
          <a:xfrm>
            <a:off x="42957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855" dirty="0"/>
          </a:p>
        </p:txBody>
      </p:sp>
      <p:sp>
        <p:nvSpPr>
          <p:cNvPr id="33" name="Shape 28"/>
          <p:cNvSpPr/>
          <p:nvPr/>
        </p:nvSpPr>
        <p:spPr>
          <a:xfrm>
            <a:off x="7762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4" name="Text 29"/>
          <p:cNvSpPr/>
          <p:nvPr/>
        </p:nvSpPr>
        <p:spPr>
          <a:xfrm>
            <a:off x="7762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lo medimos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43005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855" dirty="0"/>
          </a:p>
        </p:txBody>
      </p:sp>
      <p:sp>
        <p:nvSpPr>
          <p:cNvPr id="36" name="Shape 31"/>
          <p:cNvSpPr/>
          <p:nvPr/>
        </p:nvSpPr>
        <p:spPr>
          <a:xfrm>
            <a:off x="47386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47386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38" name="Shape 33"/>
          <p:cNvSpPr/>
          <p:nvPr/>
        </p:nvSpPr>
        <p:spPr>
          <a:xfrm>
            <a:off x="47386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39" name="Text 34"/>
          <p:cNvSpPr/>
          <p:nvPr/>
        </p:nvSpPr>
        <p:spPr>
          <a:xfrm>
            <a:off x="47386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Cierre</a:t>
            </a:r>
            <a:endParaRPr lang="en-US" sz="1283" dirty="0"/>
          </a:p>
        </p:txBody>
      </p:sp>
      <p:sp>
        <p:nvSpPr>
          <p:cNvPr id="40" name="Text 35"/>
          <p:cNvSpPr/>
          <p:nvPr/>
        </p:nvSpPr>
        <p:spPr>
          <a:xfrm>
            <a:off x="79771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Final</a:t>
            </a:r>
            <a:endParaRPr lang="en-US" sz="1283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8688" y="1581150"/>
            <a:ext cx="3633788" cy="4763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47339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43" name="Text 37"/>
          <p:cNvSpPr/>
          <p:nvPr/>
        </p:nvSpPr>
        <p:spPr>
          <a:xfrm>
            <a:off x="47339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Resumen</a:t>
            </a:r>
            <a:endParaRPr lang="en-US" sz="855" dirty="0"/>
          </a:p>
        </p:txBody>
      </p:sp>
      <p:sp>
        <p:nvSpPr>
          <p:cNvPr id="44" name="Text 38"/>
          <p:cNvSpPr/>
          <p:nvPr/>
        </p:nvSpPr>
        <p:spPr>
          <a:xfrm>
            <a:off x="82153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855" dirty="0"/>
          </a:p>
        </p:txBody>
      </p:sp>
      <p:sp>
        <p:nvSpPr>
          <p:cNvPr id="45" name="Shape 39"/>
          <p:cNvSpPr/>
          <p:nvPr/>
        </p:nvSpPr>
        <p:spPr>
          <a:xfrm>
            <a:off x="47386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46" name="Text 40"/>
          <p:cNvSpPr/>
          <p:nvPr/>
        </p:nvSpPr>
        <p:spPr>
          <a:xfrm>
            <a:off x="47386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</a:t>
            </a:r>
            <a:endParaRPr lang="en-US" sz="855" dirty="0"/>
          </a:p>
        </p:txBody>
      </p:sp>
      <p:sp>
        <p:nvSpPr>
          <p:cNvPr id="47" name="Text 41"/>
          <p:cNvSpPr/>
          <p:nvPr/>
        </p:nvSpPr>
        <p:spPr>
          <a:xfrm>
            <a:off x="82153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855" dirty="0"/>
          </a:p>
        </p:txBody>
      </p:sp>
      <p:sp>
        <p:nvSpPr>
          <p:cNvPr id="48" name="Shape 42"/>
          <p:cNvSpPr/>
          <p:nvPr/>
        </p:nvSpPr>
        <p:spPr>
          <a:xfrm>
            <a:off x="47386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49" name="Shape 43"/>
          <p:cNvSpPr/>
          <p:nvPr/>
        </p:nvSpPr>
        <p:spPr>
          <a:xfrm>
            <a:off x="47386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0" name="Text 44"/>
          <p:cNvSpPr/>
          <p:nvPr/>
        </p:nvSpPr>
        <p:spPr>
          <a:xfrm>
            <a:off x="47386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Recursos</a:t>
            </a:r>
            <a:endParaRPr lang="en-US" sz="1283" dirty="0"/>
          </a:p>
        </p:txBody>
      </p:sp>
      <p:sp>
        <p:nvSpPr>
          <p:cNvPr id="51" name="Text 45"/>
          <p:cNvSpPr/>
          <p:nvPr/>
        </p:nvSpPr>
        <p:spPr>
          <a:xfrm>
            <a:off x="79438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Anexos</a:t>
            </a:r>
            <a:endParaRPr lang="en-US" sz="1283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8688" y="2590800"/>
            <a:ext cx="3633788" cy="4763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47386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4" name="Text 47"/>
          <p:cNvSpPr/>
          <p:nvPr/>
        </p:nvSpPr>
        <p:spPr>
          <a:xfrm>
            <a:off x="47386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</a:t>
            </a:r>
            <a:endParaRPr lang="en-US" sz="855" dirty="0"/>
          </a:p>
        </p:txBody>
      </p:sp>
      <p:sp>
        <p:nvSpPr>
          <p:cNvPr id="55" name="Text 48"/>
          <p:cNvSpPr/>
          <p:nvPr/>
        </p:nvSpPr>
        <p:spPr>
          <a:xfrm>
            <a:off x="8224837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A1</a:t>
            </a:r>
            <a:endParaRPr lang="en-US" sz="855" dirty="0"/>
          </a:p>
        </p:txBody>
      </p:sp>
      <p:sp>
        <p:nvSpPr>
          <p:cNvPr id="56" name="Shape 49"/>
          <p:cNvSpPr/>
          <p:nvPr/>
        </p:nvSpPr>
        <p:spPr>
          <a:xfrm>
            <a:off x="47386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7" name="Text 50"/>
          <p:cNvSpPr/>
          <p:nvPr/>
        </p:nvSpPr>
        <p:spPr>
          <a:xfrm>
            <a:off x="47386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Inversión</a:t>
            </a:r>
            <a:endParaRPr lang="en-US" sz="855" dirty="0"/>
          </a:p>
        </p:txBody>
      </p:sp>
      <p:sp>
        <p:nvSpPr>
          <p:cNvPr id="58" name="Text 51"/>
          <p:cNvSpPr/>
          <p:nvPr/>
        </p:nvSpPr>
        <p:spPr>
          <a:xfrm>
            <a:off x="82200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</a:t>
            </a:r>
            <a:endParaRPr lang="en-US" sz="855" dirty="0"/>
          </a:p>
        </p:txBody>
      </p:sp>
      <p:sp>
        <p:nvSpPr>
          <p:cNvPr id="59" name="Shape 52"/>
          <p:cNvSpPr/>
          <p:nvPr/>
        </p:nvSpPr>
        <p:spPr>
          <a:xfrm>
            <a:off x="47386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60" name="Shape 53"/>
          <p:cNvSpPr/>
          <p:nvPr/>
        </p:nvSpPr>
        <p:spPr>
          <a:xfrm>
            <a:off x="47386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61" name="Text 54"/>
          <p:cNvSpPr/>
          <p:nvPr/>
        </p:nvSpPr>
        <p:spPr>
          <a:xfrm>
            <a:off x="47386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Seguimiento</a:t>
            </a:r>
            <a:endParaRPr lang="en-US" sz="1283" dirty="0"/>
          </a:p>
        </p:txBody>
      </p:sp>
      <p:sp>
        <p:nvSpPr>
          <p:cNvPr id="62" name="Text 55"/>
          <p:cNvSpPr/>
          <p:nvPr/>
        </p:nvSpPr>
        <p:spPr>
          <a:xfrm>
            <a:off x="79438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Después</a:t>
            </a:r>
            <a:endParaRPr lang="en-US" sz="1283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38688" y="3586163"/>
            <a:ext cx="3633788" cy="4763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47386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5" name="Text 57"/>
          <p:cNvSpPr/>
          <p:nvPr/>
        </p:nvSpPr>
        <p:spPr>
          <a:xfrm>
            <a:off x="47386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Cronograma</a:t>
            </a:r>
            <a:endParaRPr lang="en-US" sz="855" dirty="0"/>
          </a:p>
        </p:txBody>
      </p:sp>
      <p:sp>
        <p:nvSpPr>
          <p:cNvPr id="66" name="Text 58"/>
          <p:cNvSpPr/>
          <p:nvPr/>
        </p:nvSpPr>
        <p:spPr>
          <a:xfrm>
            <a:off x="82581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S1</a:t>
            </a:r>
            <a:endParaRPr lang="en-US" sz="855" dirty="0"/>
          </a:p>
        </p:txBody>
      </p:sp>
      <p:sp>
        <p:nvSpPr>
          <p:cNvPr id="67" name="Shape 59"/>
          <p:cNvSpPr/>
          <p:nvPr/>
        </p:nvSpPr>
        <p:spPr>
          <a:xfrm>
            <a:off x="47386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8" name="Text 60"/>
          <p:cNvSpPr/>
          <p:nvPr/>
        </p:nvSpPr>
        <p:spPr>
          <a:xfrm>
            <a:off x="47386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Condiciones</a:t>
            </a:r>
            <a:endParaRPr lang="en-US" sz="855" dirty="0"/>
          </a:p>
        </p:txBody>
      </p:sp>
      <p:sp>
        <p:nvSpPr>
          <p:cNvPr id="69" name="Text 61"/>
          <p:cNvSpPr/>
          <p:nvPr/>
        </p:nvSpPr>
        <p:spPr>
          <a:xfrm>
            <a:off x="82629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S2</a:t>
            </a:r>
            <a:endParaRPr lang="en-US" sz="855" dirty="0"/>
          </a:p>
        </p:txBody>
      </p:sp>
      <p:sp>
        <p:nvSpPr>
          <p:cNvPr id="70" name="Text 62"/>
          <p:cNvSpPr/>
          <p:nvPr/>
        </p:nvSpPr>
        <p:spPr>
          <a:xfrm>
            <a:off x="476250" y="476250"/>
            <a:ext cx="15192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Agenda</a:t>
            </a:r>
            <a:endParaRPr lang="en-US" sz="3420" dirty="0"/>
          </a:p>
        </p:txBody>
      </p:sp>
      <p:sp>
        <p:nvSpPr>
          <p:cNvPr id="71" name="Text 6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73" name="Text 6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641" dirty="0"/>
          </a:p>
        </p:txBody>
      </p:sp>
      <p:sp>
        <p:nvSpPr>
          <p:cNvPr id="74" name="Text 6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75" name="Text 6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6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Contexto</a:t>
            </a:r>
            <a:endParaRPr lang="en-US" sz="4988" dirty="0"/>
          </a:p>
        </p:txBody>
      </p:sp>
      <p:sp>
        <p:nvSpPr>
          <p:cNvPr id="5" name="Text 1"/>
          <p:cNvSpPr/>
          <p:nvPr/>
        </p:nvSpPr>
        <p:spPr>
          <a:xfrm>
            <a:off x="747713" y="2900363"/>
            <a:ext cx="423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1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224088"/>
            <a:ext cx="7429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224088"/>
            <a:ext cx="74295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“Que el equipo piense, no que copie datos.”</a:t>
            </a:r>
            <a:endParaRPr lang="en-US" sz="4988" dirty="0"/>
          </a:p>
        </p:txBody>
      </p:sp>
      <p:sp>
        <p:nvSpPr>
          <p:cNvPr id="4" name="Text 2"/>
          <p:cNvSpPr/>
          <p:nvPr/>
        </p:nvSpPr>
        <p:spPr>
          <a:xfrm>
            <a:off x="514350" y="3848100"/>
            <a:ext cx="74295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Gerencia de operaciones, reunión de diagnóstico</a:t>
            </a:r>
            <a:endParaRPr lang="en-US" sz="1995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733550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6" name="Text 4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3075" y="1366838"/>
            <a:ext cx="1343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La idea central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514350" y="538163"/>
            <a:ext cx="626770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000000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Su equipo ya sabe qué hacer; proponemos que deje de hacerlo a mano.</a:t>
            </a:r>
            <a:endParaRPr lang="en-US" sz="1995" dirty="0"/>
          </a:p>
        </p:txBody>
      </p:sp>
      <p:sp>
        <p:nvSpPr>
          <p:cNvPr id="4" name="Shape 2"/>
          <p:cNvSpPr/>
          <p:nvPr/>
        </p:nvSpPr>
        <p:spPr>
          <a:xfrm>
            <a:off x="0" y="2085975"/>
            <a:ext cx="9144000" cy="3057525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4843463"/>
            <a:ext cx="83344" cy="83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71513" y="2152650"/>
            <a:ext cx="7577138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1889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4" name="Shape 2"/>
          <p:cNvSpPr/>
          <p:nvPr/>
        </p:nvSpPr>
        <p:spPr>
          <a:xfrm>
            <a:off x="623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5" name="Shape 3"/>
          <p:cNvSpPr/>
          <p:nvPr/>
        </p:nvSpPr>
        <p:spPr>
          <a:xfrm>
            <a:off x="1004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6" name="Shape 4"/>
          <p:cNvSpPr/>
          <p:nvPr/>
        </p:nvSpPr>
        <p:spPr>
          <a:xfrm>
            <a:off x="52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7" name="Shape 5"/>
          <p:cNvSpPr/>
          <p:nvPr/>
        </p:nvSpPr>
        <p:spPr>
          <a:xfrm>
            <a:off x="433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8" name="Shape 6"/>
          <p:cNvSpPr/>
          <p:nvPr/>
        </p:nvSpPr>
        <p:spPr>
          <a:xfrm>
            <a:off x="8146098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9" name="Shape 7"/>
          <p:cNvSpPr/>
          <p:nvPr/>
        </p:nvSpPr>
        <p:spPr>
          <a:xfrm>
            <a:off x="57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38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8194993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08248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193" y="7132638"/>
            <a:ext cx="97790" cy="97790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Cómo trabajaremos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495300" y="1085850"/>
            <a:ext cx="4533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Cuatro etapas, con una entrega en cada una.</a:t>
            </a:r>
            <a:endParaRPr lang="en-US" sz="1283" dirty="0"/>
          </a:p>
        </p:txBody>
      </p:sp>
      <p:sp>
        <p:nvSpPr>
          <p:cNvPr id="18" name="Shape 16"/>
          <p:cNvSpPr/>
          <p:nvPr/>
        </p:nvSpPr>
        <p:spPr>
          <a:xfrm>
            <a:off x="523875" y="2819400"/>
            <a:ext cx="1500188" cy="390525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2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Diagnóstico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52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Mapear las tareas repetitivas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242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Piloto</a:t>
            </a:r>
            <a:endParaRPr lang="en-US" sz="1283" dirty="0"/>
          </a:p>
        </p:txBody>
      </p:sp>
      <p:sp>
        <p:nvSpPr>
          <p:cNvPr id="22" name="Text 20"/>
          <p:cNvSpPr/>
          <p:nvPr/>
        </p:nvSpPr>
        <p:spPr>
          <a:xfrm>
            <a:off x="433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Integración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23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Medición</a:t>
            </a:r>
            <a:endParaRPr lang="en-US" sz="1283" dirty="0"/>
          </a:p>
        </p:txBody>
      </p:sp>
      <p:sp>
        <p:nvSpPr>
          <p:cNvPr id="24" name="Text 22"/>
          <p:cNvSpPr/>
          <p:nvPr/>
        </p:nvSpPr>
        <p:spPr>
          <a:xfrm>
            <a:off x="242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Probar con un caso acotado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433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Llevarlo al trabajo diario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623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Medir horas y calidad</a:t>
            </a:r>
            <a:endParaRPr lang="en-US" sz="641" dirty="0"/>
          </a:p>
        </p:txBody>
      </p:sp>
      <p:sp>
        <p:nvSpPr>
          <p:cNvPr id="27" name="Shape 25"/>
          <p:cNvSpPr/>
          <p:nvPr/>
        </p:nvSpPr>
        <p:spPr>
          <a:xfrm>
            <a:off x="0" y="4110038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1500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3438" y="2090738"/>
            <a:ext cx="178733" cy="14002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2" name="Text 29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641" dirty="0"/>
          </a:p>
        </p:txBody>
      </p:sp>
      <p:sp>
        <p:nvSpPr>
          <p:cNvPr id="33" name="Text 30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34" name="Text 31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8975" y="1209675"/>
            <a:ext cx="2409825" cy="4810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228975" y="1209675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2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3228975" y="1481138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Responder más rápido a sus clientes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6000750" y="1209675"/>
            <a:ext cx="2224088" cy="48101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00750" y="1209675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3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000750" y="1481138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Medir el impacto desde el primer mes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57200" y="1209675"/>
            <a:ext cx="2543175" cy="481012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57200" y="120967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1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457200" y="1481138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Reducir el trabajo manual del área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8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28975" y="1838325"/>
            <a:ext cx="2690813" cy="2543175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05513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buscamos juntos</a:t>
            </a:r>
            <a:endParaRPr lang="en-US" sz="3420" dirty="0"/>
          </a:p>
        </p:txBody>
      </p:sp>
      <p:sp>
        <p:nvSpPr>
          <p:cNvPr id="15" name="Text 1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4488" y="1952625"/>
            <a:ext cx="5919788" cy="1466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2150" y="2228850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pocas palabras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1962150" y="2633663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5" name="Shape 3"/>
          <p:cNvSpPr/>
          <p:nvPr/>
        </p:nvSpPr>
        <p:spPr>
          <a:xfrm>
            <a:off x="2007338" y="2677283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962150" y="2952750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7" name="Shape 5"/>
          <p:cNvSpPr/>
          <p:nvPr/>
        </p:nvSpPr>
        <p:spPr>
          <a:xfrm>
            <a:off x="2007338" y="2996370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2206307" y="2643188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equipo dedica casi la mitad de la semana a copiar y revisar datos.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2206307" y="2962275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los meses de cierre, una respuesta a un cliente tarda hasta tres días.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escuchamos</a:t>
            </a:r>
            <a:endParaRPr lang="en-US" sz="1995" dirty="0"/>
          </a:p>
        </p:txBody>
      </p:sp>
      <p:sp>
        <p:nvSpPr>
          <p:cNvPr id="11" name="Text 9"/>
          <p:cNvSpPr/>
          <p:nvPr/>
        </p:nvSpPr>
        <p:spPr>
          <a:xfrm>
            <a:off x="1609725" y="1023938"/>
            <a:ext cx="35718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PARTE 1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4488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19500" y="1952625"/>
            <a:ext cx="1909762" cy="22240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605463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Qué proponemos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1609725" y="1023938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PARTE 2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1795463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Agente de datos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00475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Agente de respuestas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5810250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Tablero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17335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87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40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2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8563" y="254317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3750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35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87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40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2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8563" y="320992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3750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19777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Carga y concilia la información entre sistemas.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59782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 equipo revisa y aprueba cada resultado.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3982715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Prepara borradores de respuesta con su tono.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1977703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persona decide antes de enviar.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5976938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Avance, tiempos y calidad, cada semana.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3982715" y="3209925"/>
            <a:ext cx="13763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datos reales de su operación.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641" dirty="0"/>
          </a:p>
        </p:txBody>
      </p:sp>
      <p:sp>
        <p:nvSpPr>
          <p:cNvPr id="31" name="Text 2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32" name="Text 3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Hoy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5048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Con la propuesta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90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manual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5062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asistido</a:t>
            </a:r>
            <a:endParaRPr lang="en-US" sz="1995" dirty="0"/>
          </a:p>
        </p:txBody>
      </p:sp>
      <p:sp>
        <p:nvSpPr>
          <p:cNvPr id="7" name="Text 5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ANTES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5081588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DESPUÉS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423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23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57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57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909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Copiar datos entre sistemas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3495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15" name="Shape 13"/>
          <p:cNvSpPr/>
          <p:nvPr/>
        </p:nvSpPr>
        <p:spPr>
          <a:xfrm>
            <a:off x="423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59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912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Redactar cada reporte desde cero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3498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423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57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57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24" name="Text 22"/>
          <p:cNvSpPr/>
          <p:nvPr/>
        </p:nvSpPr>
        <p:spPr>
          <a:xfrm>
            <a:off x="909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Buscar información en correos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3495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3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59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912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Revisar documentos línea por línea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3498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423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659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912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Responder preguntas repetidas</a:t>
            </a:r>
            <a:endParaRPr lang="en-US" sz="855" dirty="0"/>
          </a:p>
        </p:txBody>
      </p:sp>
      <p:sp>
        <p:nvSpPr>
          <p:cNvPr id="36" name="Text 34"/>
          <p:cNvSpPr/>
          <p:nvPr/>
        </p:nvSpPr>
        <p:spPr>
          <a:xfrm>
            <a:off x="3498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423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5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995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5229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5229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5481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que se cargan solos</a:t>
            </a:r>
            <a:endParaRPr lang="en-US" sz="855" dirty="0"/>
          </a:p>
        </p:txBody>
      </p:sp>
      <p:sp>
        <p:nvSpPr>
          <p:cNvPr id="43" name="Text 41"/>
          <p:cNvSpPr/>
          <p:nvPr/>
        </p:nvSpPr>
        <p:spPr>
          <a:xfrm>
            <a:off x="8067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4995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5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31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5231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5484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Borradores listos para revisar</a:t>
            </a:r>
            <a:endParaRPr lang="en-US" sz="855" dirty="0"/>
          </a:p>
        </p:txBody>
      </p:sp>
      <p:sp>
        <p:nvSpPr>
          <p:cNvPr id="49" name="Text 47"/>
          <p:cNvSpPr/>
          <p:nvPr/>
        </p:nvSpPr>
        <p:spPr>
          <a:xfrm>
            <a:off x="8070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0" name="Shape 48"/>
          <p:cNvSpPr/>
          <p:nvPr/>
        </p:nvSpPr>
        <p:spPr>
          <a:xfrm>
            <a:off x="4995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229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2" name="Text 50"/>
          <p:cNvSpPr/>
          <p:nvPr/>
        </p:nvSpPr>
        <p:spPr>
          <a:xfrm>
            <a:off x="5229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53" name="Text 51"/>
          <p:cNvSpPr/>
          <p:nvPr/>
        </p:nvSpPr>
        <p:spPr>
          <a:xfrm>
            <a:off x="5481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 en lenguaje natural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8067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4995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95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31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5231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59" name="Text 57"/>
          <p:cNvSpPr/>
          <p:nvPr/>
        </p:nvSpPr>
        <p:spPr>
          <a:xfrm>
            <a:off x="5484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Resumen con lo importante</a:t>
            </a:r>
            <a:endParaRPr lang="en-US" sz="855" dirty="0"/>
          </a:p>
        </p:txBody>
      </p:sp>
      <p:sp>
        <p:nvSpPr>
          <p:cNvPr id="60" name="Text 58"/>
          <p:cNvSpPr/>
          <p:nvPr/>
        </p:nvSpPr>
        <p:spPr>
          <a:xfrm>
            <a:off x="8070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4995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1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63" name="Text 61"/>
          <p:cNvSpPr/>
          <p:nvPr/>
        </p:nvSpPr>
        <p:spPr>
          <a:xfrm>
            <a:off x="5231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64" name="Text 62"/>
          <p:cNvSpPr/>
          <p:nvPr/>
        </p:nvSpPr>
        <p:spPr>
          <a:xfrm>
            <a:off x="5484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Respuestas sugeridas al equipo</a:t>
            </a:r>
            <a:endParaRPr lang="en-US" sz="855" dirty="0"/>
          </a:p>
        </p:txBody>
      </p:sp>
      <p:sp>
        <p:nvSpPr>
          <p:cNvPr id="65" name="Text 63"/>
          <p:cNvSpPr/>
          <p:nvPr/>
        </p:nvSpPr>
        <p:spPr>
          <a:xfrm>
            <a:off x="8070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4995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6263" y="1543050"/>
            <a:ext cx="366713" cy="366713"/>
          </a:xfrm>
          <a:prstGeom prst="ellipse">
            <a:avLst/>
          </a:prstGeom>
          <a:solidFill>
            <a:srgbClr val="729BDD"/>
          </a:solidFill>
          <a:ln/>
        </p:spPr>
        <p:txBody>
          <a:bodyPr rtlCol="0" anchor="ctr" lIns="0" rIns="0"/>
          <a:lstStyle/>
          <a:p>
            <a:pPr indent="0" marL="0" algn="ctr">
              <a:buNone/>
            </a:pPr>
            <a:r>
              <a:rPr lang="en-US" dirty="0">
                <a:solidFill>
                  <a:srgbClr val="000000"/>
                </a:solidFill>
              </a:rPr>
              <a:t>VS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0" name="Text 6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641" dirty="0"/>
          </a:p>
        </p:txBody>
      </p:sp>
      <p:sp>
        <p:nvSpPr>
          <p:cNvPr id="71" name="Text 6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72" name="Text 7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219825" y="1257300"/>
            <a:ext cx="2919413" cy="3886200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0">
            <a:off x="509587" y="2519363"/>
            <a:ext cx="1947863" cy="194786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95675" y="1566863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 equipo deja de copiar datos y vuelve a decidir.</a:t>
            </a:r>
            <a:endParaRPr lang="en-US" sz="641" dirty="0"/>
          </a:p>
        </p:txBody>
      </p:sp>
      <p:sp>
        <p:nvSpPr>
          <p:cNvPr id="5" name="Text 3"/>
          <p:cNvSpPr/>
          <p:nvPr/>
        </p:nvSpPr>
        <p:spPr>
          <a:xfrm>
            <a:off x="3495675" y="2305050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Empezamos con un piloto de 30 días.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3495675" y="3043238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etapa termina con una entrega medible.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3495675" y="3857625"/>
            <a:ext cx="23383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Usted aprueba antes de pasar a la siguiente.</a:t>
            </a:r>
            <a:endParaRPr lang="en-US" sz="641" dirty="0"/>
          </a:p>
        </p:txBody>
      </p:sp>
      <p:sp>
        <p:nvSpPr>
          <p:cNvPr id="8" name="Shape 6"/>
          <p:cNvSpPr/>
          <p:nvPr/>
        </p:nvSpPr>
        <p:spPr>
          <a:xfrm>
            <a:off x="2890838" y="1609725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9" name="Shape 7"/>
          <p:cNvSpPr/>
          <p:nvPr/>
        </p:nvSpPr>
        <p:spPr>
          <a:xfrm>
            <a:off x="2975139" y="1691098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2890838" y="3086100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2975139" y="3167473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Resumen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CIERRE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2895600" y="2353653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63670" y="2421716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2895600" y="3829050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63670" y="3897112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315325" y="4819650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766763" y="4819650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76450" y="-738187"/>
            <a:ext cx="6619875" cy="6619875"/>
          </a:xfrm>
          <a:prstGeom prst="ellipse">
            <a:avLst/>
          </a:prstGeom>
          <a:noFill/>
          <a:ln w="4524">
            <a:solidFill>
              <a:srgbClr val="B0B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86213" y="98107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5775" y="192405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9588" y="286702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2412" y="381000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62125" y="105251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#1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071688" y="1995487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#2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095500" y="293846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#3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1838325" y="3881438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#4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75" y="881063"/>
            <a:ext cx="3830315" cy="604838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24375" y="881063"/>
            <a:ext cx="382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Dignidad Humana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Respeto como Fundamento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524375" y="1247775"/>
            <a:ext cx="38303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 sistemas de IA están orientados a garantizar la integridad de clientes, colaboradores y directivos, evitando la discriminación o vulneración de derechos.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4833938" y="1824038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4833938" y="1824038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Equidad e Inclusión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Principio Rector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833938" y="2190750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Garantizar la igualdad de oportunidades y velar por un uso responsable, objetivo e imparcial de la información procesada.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4857750" y="2767013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4857750" y="2767013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Protección de Datos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4857750" y="3133725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herramientas digitales deben aplicarse bajo criterios de responsabilidad: solo los datos necesarios, seguridad tecnológica y consentimiento informado.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4600575" y="3709988"/>
            <a:ext cx="3839840" cy="60483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600575" y="3709988"/>
            <a:ext cx="3838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Transparencia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el Uso de IA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4600575" y="4076700"/>
            <a:ext cx="3839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uso de herramientas de IA dentro de los procesos de trabajo debe ser informado de manera clara a los interesados y clientes, especificando su alcance y aplicación.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1038225" y="1866900"/>
            <a:ext cx="195738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Los 4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Principios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Rectores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Propuesta</a:t>
            </a:r>
            <a:endParaRPr lang="en-US" sz="4988" dirty="0"/>
          </a:p>
        </p:txBody>
      </p:sp>
      <p:sp>
        <p:nvSpPr>
          <p:cNvPr id="8" name="Text 1"/>
          <p:cNvSpPr/>
          <p:nvPr/>
        </p:nvSpPr>
        <p:spPr>
          <a:xfrm>
            <a:off x="747713" y="2900363"/>
            <a:ext cx="4476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2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2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4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513" y="2190750"/>
            <a:ext cx="8567738" cy="2281238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455050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0513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4526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Etapa 1 · Diagnóstico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9588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84125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7688" y="2381250"/>
            <a:ext cx="807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Semanas 1 y 2. Entrevistas con el equipo y mapa de las tareas que se pueden automatizar, con su impacto estimado.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694384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Etapa 2 · Piloto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4858903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Etapa 3 · Integración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7018120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Etapa 4 · Medición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Plan</a:t>
            </a:r>
            <a:endParaRPr lang="en-US" sz="4988" dirty="0"/>
          </a:p>
        </p:txBody>
      </p:sp>
      <p:sp>
        <p:nvSpPr>
          <p:cNvPr id="6" name="Text 1"/>
          <p:cNvSpPr/>
          <p:nvPr/>
        </p:nvSpPr>
        <p:spPr>
          <a:xfrm>
            <a:off x="747713" y="2900363"/>
            <a:ext cx="4524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3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9188" y="-109537"/>
            <a:ext cx="4214813" cy="527685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Resultados esperados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90538" y="947737"/>
            <a:ext cx="14097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Estimación con sus datos</a:t>
            </a:r>
            <a:endParaRPr lang="en-US" sz="1995" dirty="0"/>
          </a:p>
        </p:txBody>
      </p:sp>
      <p:sp>
        <p:nvSpPr>
          <p:cNvPr id="5" name="Text 3"/>
          <p:cNvSpPr/>
          <p:nvPr/>
        </p:nvSpPr>
        <p:spPr>
          <a:xfrm>
            <a:off x="2443163" y="3895725"/>
            <a:ext cx="159543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 xml:space="preserve">De las horas semanales </a:t>
            </a:r>
            <a:endParaRPr lang="en-US" sz="1283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pueden liberar.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4938713" y="281937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7" name="Shape 5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62 %</a:t>
            </a:r>
            <a:endParaRPr lang="en-US" sz="3420" dirty="0"/>
          </a:p>
        </p:txBody>
      </p:sp>
      <p:sp>
        <p:nvSpPr>
          <p:cNvPr id="9" name="Shape 7"/>
          <p:cNvSpPr/>
          <p:nvPr/>
        </p:nvSpPr>
        <p:spPr>
          <a:xfrm>
            <a:off x="5224463" y="1028635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 tareas automatizables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4938713" y="245975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4F4F4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2,2 h</a:t>
            </a:r>
            <a:endParaRPr lang="en-US" sz="3420" dirty="0"/>
          </a:p>
        </p:txBody>
      </p:sp>
      <p:sp>
        <p:nvSpPr>
          <p:cNvPr id="15" name="Shape 13"/>
          <p:cNvSpPr/>
          <p:nvPr/>
        </p:nvSpPr>
        <p:spPr>
          <a:xfrm>
            <a:off x="5224463" y="320645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persona a la semana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4938713" y="354560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3420" dirty="0"/>
          </a:p>
        </p:txBody>
      </p:sp>
      <p:sp>
        <p:nvSpPr>
          <p:cNvPr id="21" name="Shape 19"/>
          <p:cNvSpPr/>
          <p:nvPr/>
        </p:nvSpPr>
        <p:spPr>
          <a:xfrm>
            <a:off x="5224463" y="429230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personas en el área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4938713" y="1369141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35 %</a:t>
            </a:r>
            <a:endParaRPr lang="en-US" sz="3420" dirty="0"/>
          </a:p>
        </p:txBody>
      </p:sp>
      <p:sp>
        <p:nvSpPr>
          <p:cNvPr id="27" name="Shape 25"/>
          <p:cNvSpPr/>
          <p:nvPr/>
        </p:nvSpPr>
        <p:spPr>
          <a:xfrm>
            <a:off x="5224463" y="2115839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respuestas más rápidas</a:t>
            </a:r>
            <a:endParaRPr lang="en-US" sz="855" dirty="0"/>
          </a:p>
        </p:txBody>
      </p:sp>
      <p:sp>
        <p:nvSpPr>
          <p:cNvPr id="30" name="Shape 28"/>
          <p:cNvSpPr/>
          <p:nvPr/>
        </p:nvSpPr>
        <p:spPr>
          <a:xfrm>
            <a:off x="5181600" y="1362075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1600" y="2443163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1600" y="3543300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38 %</a:t>
            </a:r>
            <a:endParaRPr lang="en-US" sz="4988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43162" y="3543300"/>
            <a:ext cx="352425" cy="35242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38" name="Text 35"/>
          <p:cNvSpPr/>
          <p:nvPr/>
        </p:nvSpPr>
        <p:spPr>
          <a:xfrm>
            <a:off x="8315325" y="4801758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766763" y="4801758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713" dirty="0"/>
          </a:p>
        </p:txBody>
      </p:sp>
      <p:sp>
        <p:nvSpPr>
          <p:cNvPr id="40" name="Text 37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9738" y="476250"/>
            <a:ext cx="572928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Cómo lo medimos</a:t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729BDD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152650" y="1071563"/>
            <a:ext cx="483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Indicadores que revisaremos con su equipo en cada sesión mensual.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1785938" y="1914525"/>
            <a:ext cx="1847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Indicador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785938" y="2343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Horas en tareas repetitivas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1785938" y="26289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Tiempo de respuesta a clientes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1785938" y="29146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Reportes entregados a tiempo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1785938" y="32004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Personas que usan IA cada semana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1785938" y="3486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Errores en documentos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363855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−30 %</a:t>
            </a:r>
            <a:endParaRPr lang="en-US" sz="641" dirty="0"/>
          </a:p>
        </p:txBody>
      </p:sp>
      <p:sp>
        <p:nvSpPr>
          <p:cNvPr id="11" name="Text 9"/>
          <p:cNvSpPr/>
          <p:nvPr/>
        </p:nvSpPr>
        <p:spPr>
          <a:xfrm>
            <a:off x="363855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−25 %</a:t>
            </a:r>
            <a:endParaRPr lang="en-US" sz="641" dirty="0"/>
          </a:p>
        </p:txBody>
      </p:sp>
      <p:sp>
        <p:nvSpPr>
          <p:cNvPr id="12" name="Text 10"/>
          <p:cNvSpPr/>
          <p:nvPr/>
        </p:nvSpPr>
        <p:spPr>
          <a:xfrm>
            <a:off x="363855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95 %</a:t>
            </a:r>
            <a:endParaRPr lang="en-US" sz="641" dirty="0"/>
          </a:p>
        </p:txBody>
      </p:sp>
      <p:sp>
        <p:nvSpPr>
          <p:cNvPr id="13" name="Text 11"/>
          <p:cNvSpPr/>
          <p:nvPr/>
        </p:nvSpPr>
        <p:spPr>
          <a:xfrm>
            <a:off x="363855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80 %</a:t>
            </a:r>
            <a:endParaRPr lang="en-US" sz="641" dirty="0"/>
          </a:p>
        </p:txBody>
      </p:sp>
      <p:sp>
        <p:nvSpPr>
          <p:cNvPr id="14" name="Text 12"/>
          <p:cNvSpPr/>
          <p:nvPr/>
        </p:nvSpPr>
        <p:spPr>
          <a:xfrm>
            <a:off x="363855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−40 %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487680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−22 %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87680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−28 %</a:t>
            </a:r>
            <a:endParaRPr lang="en-US" sz="641" dirty="0"/>
          </a:p>
        </p:txBody>
      </p:sp>
      <p:sp>
        <p:nvSpPr>
          <p:cNvPr id="17" name="Text 15"/>
          <p:cNvSpPr/>
          <p:nvPr/>
        </p:nvSpPr>
        <p:spPr>
          <a:xfrm>
            <a:off x="487680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91 %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487680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64 %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87680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−42 %</a:t>
            </a:r>
            <a:endParaRPr lang="en-US" sz="641" dirty="0"/>
          </a:p>
        </p:txBody>
      </p:sp>
      <p:sp>
        <p:nvSpPr>
          <p:cNvPr id="20" name="Text 18"/>
          <p:cNvSpPr/>
          <p:nvPr/>
        </p:nvSpPr>
        <p:spPr>
          <a:xfrm>
            <a:off x="6534150" y="2343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6534150" y="26289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2" name="Text 20"/>
          <p:cNvSpPr/>
          <p:nvPr/>
        </p:nvSpPr>
        <p:spPr>
          <a:xfrm>
            <a:off x="6534150" y="29146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6534150" y="32004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6534150" y="3486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3619500" y="1914525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Meta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4848225" y="1914525"/>
            <a:ext cx="12620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Actual</a:t>
            </a:r>
            <a:endParaRPr lang="en-US" sz="1283" dirty="0"/>
          </a:p>
        </p:txBody>
      </p:sp>
      <p:sp>
        <p:nvSpPr>
          <p:cNvPr id="27" name="Text 25"/>
          <p:cNvSpPr/>
          <p:nvPr/>
        </p:nvSpPr>
        <p:spPr>
          <a:xfrm>
            <a:off x="6096000" y="1914525"/>
            <a:ext cx="1266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Estado</a:t>
            </a:r>
            <a:endParaRPr lang="en-US" sz="1283" dirty="0"/>
          </a:p>
        </p:txBody>
      </p:sp>
      <p:sp>
        <p:nvSpPr>
          <p:cNvPr id="28" name="Shape 26"/>
          <p:cNvSpPr/>
          <p:nvPr/>
        </p:nvSpPr>
        <p:spPr>
          <a:xfrm rot="5400000">
            <a:off x="26193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3848100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50958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0">
            <a:off x="1785938" y="2266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5938" y="2552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5938" y="28384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5938" y="31242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5938" y="3409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5938" y="3695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7463" y="23622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67463" y="264795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67463" y="29337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67463" y="321945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67463" y="350520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641" dirty="0"/>
          </a:p>
        </p:txBody>
      </p:sp>
      <p:sp>
        <p:nvSpPr>
          <p:cNvPr id="45" name="Text 43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46" name="Text 44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5816" t="0" b="322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4818" t="0" b="9687"/>
          <a:stretch/>
        </p:blipFill>
        <p:spPr>
          <a:xfrm>
            <a:off x="0" y="0"/>
            <a:ext cx="9144000" cy="5139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4762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Preguntas</a:t>
            </a:r>
            <a:endParaRPr lang="en-US" sz="4988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-2" t="0" b="0"/>
          <a:stretch/>
        </p:blipFill>
        <p:spPr>
          <a:xfrm>
            <a:off x="514350" y="1309688"/>
            <a:ext cx="120207" cy="23908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-2" t="0" b="0"/>
          <a:stretch/>
        </p:blipFill>
        <p:spPr>
          <a:xfrm>
            <a:off x="2190750" y="1309688"/>
            <a:ext cx="120207" cy="23908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-2" t="0" b="0"/>
          <a:stretch/>
        </p:blipFill>
        <p:spPr>
          <a:xfrm>
            <a:off x="1352550" y="1309688"/>
            <a:ext cx="120207" cy="23908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-2" t="0" b="0"/>
          <a:stretch/>
        </p:blipFill>
        <p:spPr>
          <a:xfrm>
            <a:off x="3028950" y="1309688"/>
            <a:ext cx="120207" cy="239085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-2" t="0" b="0"/>
          <a:stretch/>
        </p:blipFill>
        <p:spPr>
          <a:xfrm>
            <a:off x="723900" y="1309688"/>
            <a:ext cx="120207" cy="239085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-2" t="0" b="0"/>
          <a:stretch/>
        </p:blipFill>
        <p:spPr>
          <a:xfrm>
            <a:off x="2400300" y="1309688"/>
            <a:ext cx="120207" cy="239085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rcRect l="0" r="-2" t="0" b="0"/>
          <a:stretch/>
        </p:blipFill>
        <p:spPr>
          <a:xfrm>
            <a:off x="1562100" y="1309688"/>
            <a:ext cx="120207" cy="23908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rcRect l="0" r="-2" t="0" b="0"/>
          <a:stretch/>
        </p:blipFill>
        <p:spPr>
          <a:xfrm>
            <a:off x="3238500" y="1309688"/>
            <a:ext cx="120207" cy="239085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rcRect l="0" r="-2" t="0" b="0"/>
          <a:stretch/>
        </p:blipFill>
        <p:spPr>
          <a:xfrm>
            <a:off x="933450" y="1309688"/>
            <a:ext cx="120207" cy="239085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rcRect l="0" r="-2" t="0" b="0"/>
          <a:stretch/>
        </p:blipFill>
        <p:spPr>
          <a:xfrm>
            <a:off x="2609850" y="1309688"/>
            <a:ext cx="120207" cy="239085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rcRect l="0" r="-2" t="0" b="0"/>
          <a:stretch/>
        </p:blipFill>
        <p:spPr>
          <a:xfrm>
            <a:off x="1771650" y="1309688"/>
            <a:ext cx="120207" cy="239085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rcRect l="0" r="-2" t="0" b="0"/>
          <a:stretch/>
        </p:blipFill>
        <p:spPr>
          <a:xfrm>
            <a:off x="3448050" y="1309688"/>
            <a:ext cx="120207" cy="239085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rcRect l="0" r="-2" t="0" b="0"/>
          <a:stretch/>
        </p:blipFill>
        <p:spPr>
          <a:xfrm>
            <a:off x="3867150" y="1309688"/>
            <a:ext cx="120207" cy="239085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rcRect l="0" r="-2" t="0" b="0"/>
          <a:stretch/>
        </p:blipFill>
        <p:spPr>
          <a:xfrm>
            <a:off x="1143000" y="1309688"/>
            <a:ext cx="120207" cy="239085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rcRect l="0" r="-2" t="0" b="0"/>
          <a:stretch/>
        </p:blipFill>
        <p:spPr>
          <a:xfrm>
            <a:off x="2819400" y="1309688"/>
            <a:ext cx="120207" cy="239085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rcRect l="0" r="-2" t="0" b="0"/>
          <a:stretch/>
        </p:blipFill>
        <p:spPr>
          <a:xfrm>
            <a:off x="1981200" y="1309688"/>
            <a:ext cx="120207" cy="239085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rcRect l="0" r="-2" t="0" b="0"/>
          <a:stretch/>
        </p:blipFill>
        <p:spPr>
          <a:xfrm>
            <a:off x="3657600" y="1309688"/>
            <a:ext cx="120207" cy="23908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24" name="Text 3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641" dirty="0"/>
          </a:p>
        </p:txBody>
      </p:sp>
      <p:sp>
        <p:nvSpPr>
          <p:cNvPr id="25" name="Text 4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PROPUESTA</a:t>
            </a:r>
            <a:endParaRPr lang="en-US" sz="641" dirty="0"/>
          </a:p>
        </p:txBody>
      </p:sp>
      <p:sp>
        <p:nvSpPr>
          <p:cNvPr id="26" name="Text 5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6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SIGUIENTE PASO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REUNIÓN DE APROBACIÓN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HOLA@KEYONS.AI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KEYONS.AI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Gracias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2026-10-09T02:30:58Z</dcterms:created>
  <dcterms:modified xsi:type="dcterms:W3CDTF">2026-10-09T02:30:58Z</dcterms:modified>
</cp:coreProperties>
</file>